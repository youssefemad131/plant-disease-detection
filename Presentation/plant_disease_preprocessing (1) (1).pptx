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56"/>
  </p:notesMasterIdLst>
  <p:sldIdLst>
    <p:sldId id="278" r:id="rId3"/>
    <p:sldId id="279" r:id="rId4"/>
    <p:sldId id="280" r:id="rId5"/>
    <p:sldId id="281" r:id="rId6"/>
    <p:sldId id="282" r:id="rId7"/>
    <p:sldId id="283" r:id="rId8"/>
    <p:sldId id="284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66" r:id="rId18"/>
    <p:sldId id="267" r:id="rId19"/>
    <p:sldId id="269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256" r:id="rId46"/>
    <p:sldId id="257" r:id="rId47"/>
    <p:sldId id="258" r:id="rId48"/>
    <p:sldId id="259" r:id="rId49"/>
    <p:sldId id="260" r:id="rId50"/>
    <p:sldId id="261" r:id="rId51"/>
    <p:sldId id="262" r:id="rId52"/>
    <p:sldId id="263" r:id="rId53"/>
    <p:sldId id="264" r:id="rId54"/>
    <p:sldId id="265" r:id="rId5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1" id="{FD2813E6-26CD-4FC2-B710-53FC6CCE912B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Section 2" id="{695EC07B-3375-48E2-BFF1-C50E4E676108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section 3" id="{69E4D435-2A09-4ECA-9612-CE1AF64C7909}">
          <p14:sldIdLst>
            <p14:sldId id="266"/>
            <p14:sldId id="267"/>
            <p14:sldId id="269"/>
          </p14:sldIdLst>
        </p14:section>
        <p14:section name="Section 4" id="{487E546E-7D02-444E-8230-A003DFAC55B1}">
          <p14:sldIdLst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Section 5" id="{6ED19E4C-3B8C-4D9E-9EE3-2E4A6DD1E736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Section 6" id="{BEE096C2-C6A3-44C2-8FFD-B54CFF98A62D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Ann model" id="{C2C56609-59B9-4941-8032-B88DA085C7D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62855-5D40-4BBA-B24D-BFA9C5416E28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CBFF6B-8959-43B8-BD75-813F5E344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105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6388C-7D64-1E58-082C-8381883C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65D9A-9057-894F-DC6B-38BEA68EE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8A875-6948-436B-B151-1AFFA02E7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4E17C-1E90-B792-AC9B-6FE9F1A0D3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317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65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73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889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86" indent="-457086" algn="l" defTabSz="1218895" rtl="0" eaLnBrk="1" latinLnBrk="0" hangingPunct="1">
        <a:spcBef>
          <a:spcPct val="20000"/>
        </a:spcBef>
        <a:buFont typeface="Arial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1pPr>
      <a:lvl2pPr marL="990352" indent="-380905" algn="l" defTabSz="1218895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61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067" indent="-304724" algn="l" defTabSz="1218895" rtl="0" eaLnBrk="1" latinLnBrk="0" hangingPunct="1">
        <a:spcBef>
          <a:spcPct val="20000"/>
        </a:spcBef>
        <a:buFont typeface="Arial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4" indent="-304724" algn="l" defTabSz="1218895" rtl="0" eaLnBrk="1" latinLnBrk="0" hangingPunct="1">
        <a:spcBef>
          <a:spcPct val="20000"/>
        </a:spcBef>
        <a:buFont typeface="Arial" pitchFamily="34" charset="0"/>
        <a:buChar char="»"/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2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409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857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5" indent="-304724" algn="l" defTabSz="121889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4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95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0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238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686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3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1" algn="l" defTabSz="121889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>
                <a:ln>
                  <a:noFill/>
                </a:ln>
                <a:solidFill>
                  <a:srgbClr val="1E2A1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Plant Disease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003" y="2386572"/>
            <a:ext cx="82296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8895"/>
            <a:r>
              <a:rPr lang="en-US" sz="4000" b="1" dirty="0">
                <a:solidFill>
                  <a:srgbClr val="FF0000"/>
                </a:solidFill>
                <a:ea typeface="Segoe UI" pitchFamily="34" charset="-122"/>
                <a:cs typeface="Segoe UI" pitchFamily="34" charset="-120"/>
              </a:rPr>
              <a:t>Section</a:t>
            </a:r>
            <a:r>
              <a:rPr lang="ar-EG" sz="4000" b="1" dirty="0">
                <a:solidFill>
                  <a:srgbClr val="FF0000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sz="4000" b="1" dirty="0">
                <a:solidFill>
                  <a:srgbClr val="FF0000"/>
                </a:solidFill>
                <a:ea typeface="Segoe UI" pitchFamily="34" charset="-122"/>
                <a:cs typeface="Segoe UI" pitchFamily="34" charset="-120"/>
              </a:rPr>
              <a:t> 1</a:t>
            </a:r>
            <a:endParaRPr lang="ar-EG" sz="4000" b="1" dirty="0">
              <a:solidFill>
                <a:srgbClr val="FF0000"/>
              </a:solidFill>
              <a:ea typeface="Segoe UI" pitchFamily="34" charset="-122"/>
              <a:cs typeface="Segoe UI" pitchFamily="34" charset="-120"/>
            </a:endParaRP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</a:t>
            </a: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1097280" cy="2743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950207"/>
            <a:ext cx="9143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3931920"/>
            <a:ext cx="768096" cy="274320"/>
          </a:xfrm>
          <a:prstGeom prst="rect">
            <a:avLst/>
          </a:prstGeom>
          <a:solidFill>
            <a:srgbClr val="037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11680" y="3950207"/>
            <a:ext cx="585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3931920"/>
            <a:ext cx="685800" cy="274320"/>
          </a:xfrm>
          <a:prstGeom prst="rect">
            <a:avLst/>
          </a:prstGeom>
          <a:solidFill>
            <a:srgbClr val="D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3950207"/>
            <a:ext cx="5029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931920"/>
            <a:ext cx="850392" cy="274320"/>
          </a:xfrm>
          <a:prstGeom prst="rect">
            <a:avLst/>
          </a:prstGeom>
          <a:solidFill>
            <a:srgbClr val="297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3950207"/>
            <a:ext cx="667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Sklearn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3931920"/>
            <a:ext cx="768096" cy="274320"/>
          </a:xfrm>
          <a:prstGeom prst="rect">
            <a:avLst/>
          </a:prstGeom>
          <a:solidFill>
            <a:srgbClr val="150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79" y="3950207"/>
            <a:ext cx="5852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Pandas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173736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1737360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Load Images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4572000"/>
            <a:ext cx="173736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68880" y="4572000"/>
            <a:ext cx="173736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0604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Labels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572000"/>
            <a:ext cx="173736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89120" y="4572000"/>
            <a:ext cx="1737360" cy="73152"/>
          </a:xfrm>
          <a:prstGeom prst="rect">
            <a:avLst/>
          </a:prstGeom>
          <a:solidFill>
            <a:srgbClr val="FF7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2628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572000"/>
            <a:ext cx="173736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309360" y="4572000"/>
            <a:ext cx="1737360" cy="7315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4652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BC8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4572000"/>
            <a:ext cx="173736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29600" y="4572000"/>
            <a:ext cx="1737360" cy="73152"/>
          </a:xfrm>
          <a:prstGeom prst="rect">
            <a:avLst/>
          </a:prstGeom>
          <a:solidFill>
            <a:srgbClr val="FF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6676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63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49840" y="4572000"/>
            <a:ext cx="1737360" cy="777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0149840" y="4572000"/>
            <a:ext cx="1737360" cy="73152"/>
          </a:xfrm>
          <a:prstGeom prst="rect">
            <a:avLst/>
          </a:prstGeom>
          <a:solidFill>
            <a:srgbClr val="3D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8700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3DC8B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19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Preprocess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PlantVillage Dataset  •  Python / TensorFlow  •  Binary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📦 Load Images from PlantVillage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Collect all .jpg files and separate them into healthy vs diseased lists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394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" cy="5394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2065" y="1105702"/>
            <a:ext cx="7132320" cy="5642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glob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pandas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pd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numpy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np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matplotlib.pyplot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seaborn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cv2</a:t>
            </a: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from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tqdm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tqdm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from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sklearn.model_selection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train_test_split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from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tensorflow.keras.preprocessing.image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ImageDataGenerator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tensorflow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tf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keras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99CC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kagglehub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8A6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path =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kagglehub.dataset_download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"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abdallahalidev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/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plantvillage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-dataset")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A5D6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color_path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os.path.join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path, "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plantvillage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dataset/color")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# Collect images by category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healthy_images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= []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diseased_images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[]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for folder in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os.listdir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color_path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folder_path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os.path.join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color_path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 folder)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if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os.path.isdir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folder_path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files =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gb.glob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os.path.join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  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folder_path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 '*.[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jJ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][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pP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][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gG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]'))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if 'healthy' in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folder.lower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  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healthy_images.extend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(files)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else: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  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diseased_images.extend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(files)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43000"/>
            <a:ext cx="3749039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83879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📂 What 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600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  Downloads dataset via kagglehub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8562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  Scans the /color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1122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  Uses glob to collect .jpg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3682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  Splits into 2 lists by folder 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880360"/>
            <a:ext cx="3749039" cy="1554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83879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🔑 Key Functions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os.listdir()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3337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list all folders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glob()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collect image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9776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extend()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39776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append to 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4617720"/>
            <a:ext cx="3749039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83879" y="46817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healthy_images  →  List[str]
diseased_images →  List[str]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1 of 6  •  Data Collection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🏷️ Create DataFrame &amp;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 labels from folder names and build a structured DataFrame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4297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" cy="42976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252728"/>
            <a:ext cx="71323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def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get_label_from_path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img_path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folder_name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os.path.basename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os.path.dirname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img_path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return 'healthy' if 'healthy' in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folder_name.lower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   else 'diseased'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A5D6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all_paths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=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healthy_images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+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diseased_images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all_labels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[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get_label_from_path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(p) for p in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all_paths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pd.DataFrame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'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image_path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':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all_paths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'label':  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all_labels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A5D6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77840"/>
            <a:ext cx="740664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5605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DataFrame Preview (df.head())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978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978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image_path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58978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53912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153912"/>
            <a:ext cx="5303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.../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Tomato_healthy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/img1.jpg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6153912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healthy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7278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272784"/>
            <a:ext cx="5303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.../Corn_Northern_Leaf_Blight/img2.jpg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6272784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diseased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91656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391656"/>
            <a:ext cx="5303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.../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Pepper_healthy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/img3.jpg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6391656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healthy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143000"/>
            <a:ext cx="3749039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83879" y="1234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💡 Label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600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Folder name contains 'healthy'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→ label = 'healthy'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0939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Otherwise: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3408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→ label = 'diseased'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2587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83879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Case-insensitive check (.lower())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337560"/>
            <a:ext cx="3749039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83879" y="3429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FB9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📋 DataFrame Columns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3840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image_path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 path to image 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4251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label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'healthy' or 'diseased'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5440680"/>
            <a:ext cx="3749039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183879" y="55046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 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5852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  →  pd.DataFrame
       (image_path, label)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2 of 6  •  Labeling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FF7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⚖️ Balance 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Undersample diseased class to match healthy count — prevents model bias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394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" cy="5394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252728"/>
            <a:ext cx="713232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df_healthy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[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['label'] == 'healthy']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df_diseased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[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['label'] == 'diseased']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min_size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len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df_healthy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df_diseased_balanced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df_diseased.sample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n=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min_size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random_state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=42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df_balanced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pd.concat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([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df_healthy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df_diseased_balanced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])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df_balanced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df_balanced.sample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frac=1,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random_state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=42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).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reset_index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(drop=True)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43000"/>
            <a:ext cx="3749039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60" y="1234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 Before vs After Balancing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1691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011680"/>
            <a:ext cx="1371600" cy="4114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80" y="20848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Healthy:  ~2,145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514600"/>
            <a:ext cx="1371600" cy="914400"/>
          </a:xfrm>
          <a:prstGeom prst="rect">
            <a:avLst/>
          </a:prstGeom>
          <a:solidFill>
            <a:srgbClr val="FF7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Diseased: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~16,607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2011680"/>
            <a:ext cx="1371600" cy="4114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241280" y="20848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Healthy:  ~2,145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2514600"/>
            <a:ext cx="1371600" cy="411480"/>
          </a:xfrm>
          <a:prstGeom prst="rect">
            <a:avLst/>
          </a:prstGeom>
          <a:solidFill>
            <a:srgbClr val="FF7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241280" y="2587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Diseased: ~2,145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2461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→ Equal class sizes
→ random_state=42 for reproducibility
→ frac=1 shuffles the full dataset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4251960"/>
            <a:ext cx="3749039" cy="1051560"/>
          </a:xfrm>
          <a:prstGeom prst="rect">
            <a:avLst/>
          </a:prstGeom>
          <a:solidFill>
            <a:srgbClr val="1A2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83879" y="4315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⚠️  Why balance?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6360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Imbalanced data causes the model
to ignore minority class (healthy)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5440680"/>
            <a:ext cx="3749039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83879" y="55046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852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df_balanced  →  pd.DataFrame
(equal healthy &amp; diseased rows)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3 of 6  •  Data Balancing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✂️  Train / Validation / Test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80% Train — 20% Test, then 85% Train — 15% Validation from the training 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4846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" cy="48463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252728"/>
            <a:ext cx="71323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from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sklearn.model_selection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import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train_test_split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58A6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58A6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# 80% train  —  20% test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train_df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test_df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train_test_split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df_balanced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test_size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=0.2,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random_state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=42,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stratify=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df_balanced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['label']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# From train: 85% train  —  15% validation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train_df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val_df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train_test_split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train_df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test_size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=0.15,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random_state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=42,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stratify=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train_df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['label']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43000"/>
            <a:ext cx="3749039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60" y="1234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BC8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 Split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642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df_balanced  (100%)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965960"/>
            <a:ext cx="3383280" cy="29260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0" y="1965960"/>
            <a:ext cx="2706624" cy="2926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80% → train_df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36224" y="2011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20% → test_df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train_df  (80%)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697480"/>
            <a:ext cx="3383280" cy="292608"/>
          </a:xfrm>
          <a:prstGeom prst="rect">
            <a:avLst/>
          </a:prstGeom>
          <a:solidFill>
            <a:srgbClr val="3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0" y="2697480"/>
            <a:ext cx="2299716" cy="2926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75320" y="27432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85% → train_df (final)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33888" y="2743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15%→val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154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BC8C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Final Splits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456432"/>
            <a:ext cx="1033271" cy="822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75320" y="3502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~68%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54312" y="3456432"/>
            <a:ext cx="1033271" cy="822960"/>
          </a:xfrm>
          <a:prstGeom prst="rect">
            <a:avLst/>
          </a:prstGeom>
          <a:solidFill>
            <a:srgbClr val="FF7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00032" y="3502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val_df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~12%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79024" y="3456432"/>
            <a:ext cx="1033271" cy="8229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24744" y="3502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test_df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24744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434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✓  stratify ensures each split has
    equal healthy / diseased 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029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✓  random_state=42 → reproducible
    results every run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4 of 6  •  Train/Val/Test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FF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🔄 Create Image Generators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Keras ImageDataGenerator to rescale pixels and create batch pipelines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394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" cy="5394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252728"/>
            <a:ext cx="71323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from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tensorflow.keras.preprocessing.image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import \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ImageDataGenerator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2A8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2A8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train_datagen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ImageDataGenerator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(rescale=1./255)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val_datagen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ImageDataGenerator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(rescale=1./255)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test_datagen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ImageDataGenerator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(rescale=1./255)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BATCH_SIZE = 32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IMG_SIZE   = (128, 128)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79C0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train_generator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train_datagen.flow_from_dataframe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dataframe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train_df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x_col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='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image_path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',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y_col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='label',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target_size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=IMG_SIZE,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batch_size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=BATCH_SIZE,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class_mode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='binary', shuffle=True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val_generator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val_datagen.flow_from_dataframe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dataframe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val_df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x_col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='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image_path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',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y_col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='label',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target_size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=IMG_SIZE,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batch_size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=BATCH_SIZE,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class_mode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='binary', shuffle=False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test_generator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test_datagen.flow_from_dataframe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dataframe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test_df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x_col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='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image_path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',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y_col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='label',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target_size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=IMG_SIZE,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batch_size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=BATCH_SIZE,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class_mode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A5D6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='binary', shuffle=False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143000"/>
            <a:ext cx="3749039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60" y="1234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63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⚙️ Parameters Explained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rescale=1./255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Normalize pixels to [0,1]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0025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BATCH_SIZE=32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0025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Images processed per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404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IMG_SIZE=(128,128)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404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Resize all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8072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class_mode='binary'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807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2-class output (0/1)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2095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shuffle=True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209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Only for training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794760"/>
            <a:ext cx="3749039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38160" y="3886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58A6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🔢 Rescaling Formula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251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pixel_new = pixel_old / 255.0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572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Range: [0, 255]  →  [0.0, 1.0]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892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Required by neural networks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5440680"/>
            <a:ext cx="3749039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83879" y="55046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852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3 generators: train / val / test
Ready for model.fit()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5 of 6  •  Data Generators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D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solidFill>
            <a:srgbClr val="3D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🖼️  Preprocess a Single Image for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Manually apply the same preprocessing steps when predicting on a new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394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" cy="5394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252728"/>
            <a:ext cx="713232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def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preprocess_single_image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image_path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2A8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# Read image with OpenCV (returns BGR)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img_bgr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cv2.imread(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image_path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# Convert BGR → RGB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img_rgb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cv2.cvtColor(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img_bgr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 cv2.COLOR_BGR2RGB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# Resize to 128×128 pixels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img_resized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cv2.resize(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img_rgb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 (128, 128))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# Normalize pixel values to [0, 1]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img_normalized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img_resized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/ 255.0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# Add batch dimension: (128,128,3) → (1,128,128,3)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img_final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np.expand_dims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img_normalized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79C0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, axis=0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E6EDF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E6EDF3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return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79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img_final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F79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46720" y="1143000"/>
            <a:ext cx="3749039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60" y="12344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3DC8B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🔄 Processing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664208"/>
            <a:ext cx="3566160" cy="777240"/>
          </a:xfrm>
          <a:prstGeom prst="rect">
            <a:avLst/>
          </a:prstGeom>
          <a:solidFill>
            <a:srgbClr val="1C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38160" y="1664208"/>
            <a:ext cx="3566160" cy="64008"/>
          </a:xfrm>
          <a:prstGeom prst="rect">
            <a:avLst/>
          </a:prstGeom>
          <a:solidFill>
            <a:srgbClr val="3D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83879" y="1755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cv2.imread()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11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Read .jpg → BGR array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8928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DC8B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BGR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414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3DC8B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560320"/>
            <a:ext cx="3566160" cy="777240"/>
          </a:xfrm>
          <a:prstGeom prst="rect">
            <a:avLst/>
          </a:prstGeom>
          <a:solidFill>
            <a:srgbClr val="1C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38160" y="2560320"/>
            <a:ext cx="3566160" cy="64008"/>
          </a:xfrm>
          <a:prstGeom prst="rect">
            <a:avLst/>
          </a:prstGeom>
          <a:solidFill>
            <a:srgbClr val="3D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83879" y="2651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cvtColor()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90779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BGR → RGB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DC8B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RGB image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310127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3DC8B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456432"/>
            <a:ext cx="3566160" cy="777240"/>
          </a:xfrm>
          <a:prstGeom prst="rect">
            <a:avLst/>
          </a:prstGeom>
          <a:solidFill>
            <a:srgbClr val="1C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138160" y="3456432"/>
            <a:ext cx="3566160" cy="64008"/>
          </a:xfrm>
          <a:prstGeom prst="rect">
            <a:avLst/>
          </a:prstGeom>
          <a:solidFill>
            <a:srgbClr val="3D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83879" y="3547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cv2.resize()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803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Resize to 128×128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6850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DC8B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(128, 128, 3)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2062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3DC8B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352544"/>
            <a:ext cx="3566160" cy="777240"/>
          </a:xfrm>
          <a:prstGeom prst="rect">
            <a:avLst/>
          </a:prstGeom>
          <a:solidFill>
            <a:srgbClr val="1C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138160" y="4352544"/>
            <a:ext cx="3566160" cy="64008"/>
          </a:xfrm>
          <a:prstGeom prst="rect">
            <a:avLst/>
          </a:prstGeom>
          <a:solidFill>
            <a:srgbClr val="3D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83879" y="4443983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/ 255.0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7000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Normalize to [0.0, 1.0]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581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DC8B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float32 array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3DC8B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5248656"/>
            <a:ext cx="3566160" cy="777240"/>
          </a:xfrm>
          <a:prstGeom prst="rect">
            <a:avLst/>
          </a:prstGeom>
          <a:solidFill>
            <a:srgbClr val="1C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38160" y="5248656"/>
            <a:ext cx="3566160" cy="64008"/>
          </a:xfrm>
          <a:prstGeom prst="rect">
            <a:avLst/>
          </a:prstGeom>
          <a:solidFill>
            <a:srgbClr val="3D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83879" y="5340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expand_dims()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55961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 batch axis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4772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3DC8B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(1, 128, 128, 3)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 6 of 6  •  Single Image Preprocessing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372136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743379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4114621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5485864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857107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823160" y="893"/>
            <a:ext cx="365665" cy="685621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84104" y="244670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CNN PlantVillage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884104" y="756600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884104" y="1268531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884104" y="1780462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884104" y="2292392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model.add(Conv2D(32,(3,3),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884104" y="2804323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884104" y="3316254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padding='same',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884104" y="3828184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884104" y="4340115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activation='relu',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884104" y="4852045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884104" y="5363976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input_shape=(128,128,3)))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884104" y="5875907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884104" y="6387837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model.add(BatchNormalization())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884104" y="6900661"/>
            <a:ext cx="268154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8497" y="549390"/>
            <a:ext cx="10726166" cy="1340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586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CNN Model</a:t>
            </a:r>
            <a:endParaRPr lang="en-US" sz="5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48497" y="2085182"/>
            <a:ext cx="10726166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4800" b="1" dirty="0">
                <a:solidFill>
                  <a:srgbClr val="FF0000"/>
                </a:solidFill>
                <a:ea typeface="Segoe UI" pitchFamily="34" charset="-122"/>
                <a:cs typeface="Segoe UI" pitchFamily="34" charset="-120"/>
              </a:rPr>
              <a:t>Section</a:t>
            </a:r>
            <a:r>
              <a:rPr lang="ar-EG" sz="4800" b="1" dirty="0">
                <a:solidFill>
                  <a:srgbClr val="FF0000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en-US" sz="4800" b="1" dirty="0">
                <a:solidFill>
                  <a:srgbClr val="FF0000"/>
                </a:solidFill>
                <a:ea typeface="Segoe UI" pitchFamily="34" charset="-122"/>
                <a:cs typeface="Segoe UI" pitchFamily="34" charset="-120"/>
              </a:rPr>
              <a:t> </a:t>
            </a:r>
            <a:r>
              <a:rPr lang="ar-EG" sz="4800" b="1" dirty="0">
                <a:solidFill>
                  <a:srgbClr val="FF0000"/>
                </a:solidFill>
                <a:ea typeface="Segoe UI" pitchFamily="34" charset="-122"/>
                <a:cs typeface="Segoe UI" pitchFamily="34" charset="-120"/>
              </a:rPr>
              <a:t>2</a:t>
            </a:r>
          </a:p>
          <a:p>
            <a:pPr defTabSz="1218895"/>
            <a:r>
              <a:rPr lang="en-US" sz="3199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Convolutional Neural Network</a:t>
            </a:r>
            <a:endParaRPr lang="en-US" sz="31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496" y="3352820"/>
            <a:ext cx="1487037" cy="438798"/>
          </a:xfrm>
          <a:prstGeom prst="rect">
            <a:avLst/>
          </a:prstGeom>
          <a:solidFill>
            <a:srgbClr val="13171F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8496" y="3352820"/>
            <a:ext cx="1487037" cy="4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Imports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181799" y="3352820"/>
            <a:ext cx="1487037" cy="438798"/>
          </a:xfrm>
          <a:prstGeom prst="rect">
            <a:avLst/>
          </a:prstGeom>
          <a:solidFill>
            <a:srgbClr val="13171F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181799" y="3352820"/>
            <a:ext cx="1487037" cy="4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Architecture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815102" y="3352820"/>
            <a:ext cx="1487037" cy="438798"/>
          </a:xfrm>
          <a:prstGeom prst="rect">
            <a:avLst/>
          </a:prstGeom>
          <a:solidFill>
            <a:srgbClr val="13171F"/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815102" y="3352820"/>
            <a:ext cx="1487037" cy="4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Block 1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448404" y="3352820"/>
            <a:ext cx="1487037" cy="438798"/>
          </a:xfrm>
          <a:prstGeom prst="rect">
            <a:avLst/>
          </a:prstGeom>
          <a:solidFill>
            <a:srgbClr val="13171F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448404" y="3352820"/>
            <a:ext cx="1487037" cy="4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Block 2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081707" y="3352820"/>
            <a:ext cx="1487037" cy="438798"/>
          </a:xfrm>
          <a:prstGeom prst="rect">
            <a:avLst/>
          </a:prstGeom>
          <a:solidFill>
            <a:srgbClr val="13171F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081707" y="3352820"/>
            <a:ext cx="1487037" cy="4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 Block 3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715009" y="3352820"/>
            <a:ext cx="1487037" cy="438798"/>
          </a:xfrm>
          <a:prstGeom prst="rect">
            <a:avLst/>
          </a:prstGeom>
          <a:solidFill>
            <a:srgbClr val="13171F"/>
          </a:solidFill>
          <a:ln w="19050">
            <a:solidFill>
              <a:srgbClr val="FCD34D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715009" y="3352820"/>
            <a:ext cx="1487037" cy="4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 Head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0348312" y="3352820"/>
            <a:ext cx="1487037" cy="438798"/>
          </a:xfrm>
          <a:prstGeom prst="rect">
            <a:avLst/>
          </a:prstGeom>
          <a:solidFill>
            <a:srgbClr val="13171F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348312" y="3352820"/>
            <a:ext cx="1487037" cy="43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 Compile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26608" y="6436592"/>
            <a:ext cx="7313295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Model  •  Python / TensorFlow  •  Binary Classification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372136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743379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4114621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5485864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857107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8154" y="171537"/>
            <a:ext cx="609441" cy="609441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8154" y="171537"/>
            <a:ext cx="60944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866" b="1" dirty="0">
                <a:solidFill>
                  <a:srgbClr val="1317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9483" y="171537"/>
            <a:ext cx="1036050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Imports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36050" y="829733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533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all required Keras layers and model class from TensorFlow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68154" y="1244153"/>
            <a:ext cx="11652517" cy="0"/>
          </a:xfrm>
          <a:prstGeom prst="line">
            <a:avLst/>
          </a:prstGeom>
          <a:noFill/>
          <a:ln w="1016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19398" y="1341663"/>
            <a:ext cx="6923253" cy="5119307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9398" y="1341663"/>
            <a:ext cx="511931" cy="5119307"/>
          </a:xfrm>
          <a:prstGeom prst="rect">
            <a:avLst/>
          </a:prstGeom>
          <a:solidFill>
            <a:srgbClr val="13171F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3776" y="1463553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2273" y="1463553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tensorflow.keras.models </a:t>
            </a:r>
            <a:r>
              <a:rPr lang="en-US" sz="1466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3776" y="1762179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2273" y="1762179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tensorflow.keras.layers </a:t>
            </a:r>
            <a:r>
              <a:rPr lang="en-US" sz="1466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MaxPooling2D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43776" y="2060805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2273" y="2060805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GlobalAveragePooling2D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3776" y="2359431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2273" y="2359431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374239" y="1341664"/>
            <a:ext cx="4534243" cy="2486520"/>
          </a:xfrm>
          <a:prstGeom prst="rect">
            <a:avLst/>
          </a:prstGeom>
          <a:solidFill>
            <a:srgbClr val="1A1F2B"/>
          </a:solidFill>
          <a:ln w="22860">
            <a:solidFill>
              <a:srgbClr val="4ADE8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520505" y="1463552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What We Import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520505" y="1853594"/>
            <a:ext cx="4290466" cy="1816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Sequential    →  linear layer stack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Conv2D        →  2D convolution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MaxPooling2D  →  spatial downsampling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BatchNorm     →  normalize outputs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Dropout       →  regularization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Dense         →  fully-connected layer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GlobalAvgPool →  replaces Flatten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374239" y="3974450"/>
            <a:ext cx="4534243" cy="2486520"/>
          </a:xfrm>
          <a:prstGeom prst="rect">
            <a:avLst/>
          </a:prstGeom>
          <a:solidFill>
            <a:srgbClr val="1A1F2B"/>
          </a:solidFill>
          <a:ln w="2286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520505" y="4096338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 Why These Layers?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520505" y="4486381"/>
            <a:ext cx="4290466" cy="1816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Conv2D extracts local features (edges, textures).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MaxPooling halves spatial size each block.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BatchNorm speeds training &amp; stabilizes.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Dropout prevents overfitting.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GlobalAvgPool reduces params vs Flatten.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solidFill>
            <a:srgbClr val="1A1F2B"/>
          </a:solidFill>
          <a:ln w="15240">
            <a:solidFill>
              <a:srgbClr val="4ADE8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of 5  •  Imports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68153" y="6436592"/>
            <a:ext cx="3656648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Section  •  PlantVillage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372136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743379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4114621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5485864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857107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8154" y="171537"/>
            <a:ext cx="609441" cy="609441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8154" y="171537"/>
            <a:ext cx="60944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866" b="1" dirty="0">
                <a:solidFill>
                  <a:srgbClr val="1317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9483" y="171537"/>
            <a:ext cx="1036050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🧱  Build Model — Block 1  (32 filters)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36050" y="829733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533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Sequential model init → first Conv block: Conv → BN → Conv → Pool → Dropout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68154" y="1244153"/>
            <a:ext cx="11652517" cy="0"/>
          </a:xfrm>
          <a:prstGeom prst="line">
            <a:avLst/>
          </a:prstGeom>
          <a:noFill/>
          <a:ln w="1016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19398" y="1341663"/>
            <a:ext cx="6923253" cy="5119307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9398" y="1341663"/>
            <a:ext cx="511931" cy="5119307"/>
          </a:xfrm>
          <a:prstGeom prst="rect">
            <a:avLst/>
          </a:prstGeom>
          <a:solidFill>
            <a:srgbClr val="13171F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3776" y="1463553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2273" y="1463553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3776" y="1762179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2273" y="1762179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43776" y="2060805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2273" y="2060805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Block 1 ── 32 filters ─────────────────────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3776" y="2359431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2273" y="2359431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padding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'same'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43776" y="2658058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2273" y="2658058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activation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43776" y="2956684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92273" y="2956684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input_shape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43776" y="3255310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92273" y="3255310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43776" y="3553936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2273" y="3553936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43776" y="3852562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92273" y="3852562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MaxPooling2D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43776" y="4151189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92273" y="4151189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74239" y="1341664"/>
            <a:ext cx="4534243" cy="2486520"/>
          </a:xfrm>
          <a:prstGeom prst="rect">
            <a:avLst/>
          </a:prstGeom>
          <a:solidFill>
            <a:srgbClr val="1A1F2B"/>
          </a:solidFill>
          <a:ln w="2286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520505" y="1463552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🔵  Conv2D — 32 filters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520505" y="1853594"/>
            <a:ext cx="4290466" cy="1816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kernel (3,3)  →  3×3 sliding window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padding='same'  →  keep spatial size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activation='relu'  →  non-linearity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input_shape=(128,128,3)  →  RGB image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374239" y="3974450"/>
            <a:ext cx="4534243" cy="2486520"/>
          </a:xfrm>
          <a:prstGeom prst="rect">
            <a:avLst/>
          </a:prstGeom>
          <a:solidFill>
            <a:srgbClr val="1A1F2B"/>
          </a:solidFill>
          <a:ln w="22860">
            <a:solidFill>
              <a:srgbClr val="A78BF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520505" y="4096338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BatchNorm + Pool + Drop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520505" y="4486381"/>
            <a:ext cx="4290466" cy="1816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BatchNorm  →  normalise after Conv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2nd Conv32  →  deeper features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MaxPool(2,2)  →  128→64 spatial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Dropout(0.25)  →  25% neurons zeroed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solidFill>
            <a:srgbClr val="1A1F2B"/>
          </a:solidFill>
          <a:ln w="1524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of 5  •  Architecture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68153" y="6436592"/>
            <a:ext cx="3656648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Section  •  PlantVillage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372136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743379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4114621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5485864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857107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8154" y="171537"/>
            <a:ext cx="609441" cy="609441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8154" y="171537"/>
            <a:ext cx="60944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866" b="1" dirty="0">
                <a:solidFill>
                  <a:srgbClr val="1317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9483" y="171537"/>
            <a:ext cx="1036050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🧱  Build Model — Block 2  (64 filters)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36050" y="829733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533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 convolutional block — doubles filters to 64 for richer feature detection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68154" y="1244153"/>
            <a:ext cx="11652517" cy="0"/>
          </a:xfrm>
          <a:prstGeom prst="line">
            <a:avLst/>
          </a:prstGeom>
          <a:noFill/>
          <a:ln w="1016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19398" y="1341663"/>
            <a:ext cx="6923253" cy="5119307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9398" y="1341663"/>
            <a:ext cx="511931" cy="5119307"/>
          </a:xfrm>
          <a:prstGeom prst="rect">
            <a:avLst/>
          </a:prstGeom>
          <a:solidFill>
            <a:srgbClr val="13171F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3776" y="1463553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2273" y="1463553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Block 2 ── 64 filters ─────────────────────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3776" y="1762179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2273" y="1762179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padding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'same'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43776" y="2060805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2273" y="2060805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activation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3776" y="2359431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2273" y="2359431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43776" y="2658058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2273" y="2658058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43776" y="2956684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92273" y="2956684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MaxPooling2D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43776" y="3255310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92273" y="3255310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374239" y="1341664"/>
            <a:ext cx="4534243" cy="2486520"/>
          </a:xfrm>
          <a:prstGeom prst="rect">
            <a:avLst/>
          </a:prstGeom>
          <a:solidFill>
            <a:srgbClr val="1A1F2B"/>
          </a:solidFill>
          <a:ln w="2286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520505" y="1463552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Why double to 64?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520505" y="1853594"/>
            <a:ext cx="4290466" cy="1816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Deeper layers need more filters to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complex, abstract patterns.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filters  →  edges &amp; textures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 filters  →  shapes &amp; object parts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Doubling is a standard CNN practice.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374239" y="3974450"/>
            <a:ext cx="4534243" cy="2486520"/>
          </a:xfrm>
          <a:prstGeom prst="rect">
            <a:avLst/>
          </a:prstGeom>
          <a:solidFill>
            <a:srgbClr val="1A1F2B"/>
          </a:solidFill>
          <a:ln w="22860">
            <a:solidFill>
              <a:srgbClr val="FB923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520505" y="4096338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 Spatial Size After Block 2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520505" y="4486381"/>
            <a:ext cx="4290466" cy="1816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  128×128×3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B1 Pool:  64×64×32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B2 Pool:  32×32×64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MaxPool(2,2) halves width &amp; height.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maps grow deeper, smaller in area.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solidFill>
            <a:srgbClr val="1A1F2B"/>
          </a:solidFill>
          <a:ln w="1524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of 5  •  Architecture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68153" y="6436592"/>
            <a:ext cx="3656648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Section  •  PlantVillage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372136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743379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4114621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5485864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857107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8154" y="171537"/>
            <a:ext cx="609441" cy="609441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8154" y="171537"/>
            <a:ext cx="60944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866" b="1" dirty="0">
                <a:solidFill>
                  <a:srgbClr val="1317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9483" y="171537"/>
            <a:ext cx="1036050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🧱  Build Model — Block 3  (128 filters)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36050" y="829733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533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Third block — 128 filters, higher Dropout(0.3) for stronger regularisation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68154" y="1244153"/>
            <a:ext cx="11652517" cy="0"/>
          </a:xfrm>
          <a:prstGeom prst="line">
            <a:avLst/>
          </a:prstGeom>
          <a:noFill/>
          <a:ln w="1016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19398" y="1341663"/>
            <a:ext cx="6923253" cy="5119307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9398" y="1341663"/>
            <a:ext cx="511931" cy="5119307"/>
          </a:xfrm>
          <a:prstGeom prst="rect">
            <a:avLst/>
          </a:prstGeom>
          <a:solidFill>
            <a:srgbClr val="13171F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3776" y="1463553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2273" y="1463553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Block 3 ── 128 filters ────────────────────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3776" y="1762179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2273" y="1762179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padding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'same'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43776" y="2060805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2273" y="2060805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activation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3776" y="2359431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2273" y="2359431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43776" y="2658058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2273" y="2658058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MaxPooling2D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43776" y="2956684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92273" y="2956684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374239" y="1341664"/>
            <a:ext cx="4534243" cy="2486520"/>
          </a:xfrm>
          <a:prstGeom prst="rect">
            <a:avLst/>
          </a:prstGeom>
          <a:solidFill>
            <a:srgbClr val="1A1F2B"/>
          </a:solidFill>
          <a:ln w="22860">
            <a:solidFill>
              <a:srgbClr val="F8717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520505" y="1463552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 Why only ONE Conv here?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520505" y="1853594"/>
            <a:ext cx="4290466" cy="1816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3 has one Conv2D instead of two.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128 filters the model is already rich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enough — adding a second Conv would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increase cost without much benefit.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Dropout raised to 0.3 (was 0.25) because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deeper layers overfit more easily.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374239" y="3974450"/>
            <a:ext cx="4534243" cy="2486520"/>
          </a:xfrm>
          <a:prstGeom prst="rect">
            <a:avLst/>
          </a:prstGeom>
          <a:solidFill>
            <a:srgbClr val="1A1F2B"/>
          </a:solidFill>
          <a:ln w="22860">
            <a:solidFill>
              <a:srgbClr val="FB923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520505" y="4096338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📐  Size After Block 3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520505" y="4486381"/>
            <a:ext cx="4290466" cy="1816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B2 Pool:  32×32×64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B3 Pool:  16×16×128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params so far: large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GlobalAvgPool next will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collapse 16×16×128 → 128 values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solidFill>
            <a:srgbClr val="1A1F2B"/>
          </a:solidFill>
          <a:ln w="1524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of 5  •  Architecture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68153" y="6436592"/>
            <a:ext cx="3656648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Section  •  PlantVillage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372136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743379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4114621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5485864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857107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8154" y="171537"/>
            <a:ext cx="609441" cy="609441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8154" y="171537"/>
            <a:ext cx="60944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866" b="1" dirty="0">
                <a:solidFill>
                  <a:srgbClr val="1317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9483" y="171537"/>
            <a:ext cx="1036050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Classifier Head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36050" y="829733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533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GlobalAveragePooling replaces Flatten → Dense(128) → Dropout → sigmoid output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68154" y="1244153"/>
            <a:ext cx="11652517" cy="0"/>
          </a:xfrm>
          <a:prstGeom prst="line">
            <a:avLst/>
          </a:prstGeom>
          <a:noFill/>
          <a:ln w="1016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19398" y="1341663"/>
            <a:ext cx="6923253" cy="5119307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9398" y="1341663"/>
            <a:ext cx="511931" cy="5119307"/>
          </a:xfrm>
          <a:prstGeom prst="rect">
            <a:avLst/>
          </a:prstGeom>
          <a:solidFill>
            <a:srgbClr val="13171F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3776" y="1463553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2273" y="1463553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Classifier Head ───────────────────────────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3776" y="1762179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2273" y="1762179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GlobalAveragePooling2D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43776" y="2060805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2273" y="2060805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3776" y="2359431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2273" y="2359431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43776" y="2658058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2273" y="2658058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43776" y="2956684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92273" y="2956684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43776" y="3255310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92273" y="3255310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'sigmoid'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374239" y="1341664"/>
            <a:ext cx="4534243" cy="1608925"/>
          </a:xfrm>
          <a:prstGeom prst="rect">
            <a:avLst/>
          </a:prstGeom>
          <a:solidFill>
            <a:srgbClr val="1A1F2B"/>
          </a:solidFill>
          <a:ln w="22860">
            <a:solidFill>
              <a:srgbClr val="A78BF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520505" y="1463552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GlobalAveragePooling2D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520505" y="1853594"/>
            <a:ext cx="4290466" cy="93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16×16×128  →  128-D vector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mean of each feature map.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Flatten → far fewer params.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Less overfitting risk.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374239" y="3096854"/>
            <a:ext cx="4534243" cy="1608925"/>
          </a:xfrm>
          <a:prstGeom prst="rect">
            <a:avLst/>
          </a:prstGeom>
          <a:solidFill>
            <a:srgbClr val="1A1F2B"/>
          </a:solidFill>
          <a:ln w="2286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520505" y="3218743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🔷  Dense(128) + Dropout(0.5)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520505" y="3608785"/>
            <a:ext cx="4290466" cy="93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Dense(128, relu)  →  learn combinations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Dropout(0.5)  →  50% dropout, strong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regularisation before output layer.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74239" y="4852045"/>
            <a:ext cx="4534243" cy="1608925"/>
          </a:xfrm>
          <a:prstGeom prst="rect">
            <a:avLst/>
          </a:prstGeom>
          <a:solidFill>
            <a:srgbClr val="1A1F2B"/>
          </a:solidFill>
          <a:ln w="22860">
            <a:solidFill>
              <a:srgbClr val="4ADE8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520505" y="4973934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 Output: Dense(1, sigmoid)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520505" y="5363976"/>
            <a:ext cx="4290466" cy="93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sigmoid → output in [0, 1]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 → class 0 (e.g. Healthy)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 → class 1 (e.g. Diseased)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 at 0.5 for prediction.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solidFill>
            <a:srgbClr val="1A1F2B"/>
          </a:solidFill>
          <a:ln w="15240">
            <a:solidFill>
              <a:srgbClr val="A78BF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of 5  •  Classifier Head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68153" y="6436592"/>
            <a:ext cx="3656648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Section  •  PlantVillage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372136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743379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4114621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5485864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857107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8154" y="171537"/>
            <a:ext cx="609441" cy="609441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8154" y="171537"/>
            <a:ext cx="60944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866" b="1" dirty="0">
                <a:solidFill>
                  <a:srgbClr val="1317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9483" y="171537"/>
            <a:ext cx="1036050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Compile &amp; Summary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36050" y="829733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533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optimizer, loss function, metrics — then print full architecture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68154" y="1244153"/>
            <a:ext cx="11652517" cy="0"/>
          </a:xfrm>
          <a:prstGeom prst="line">
            <a:avLst/>
          </a:prstGeom>
          <a:noFill/>
          <a:ln w="1016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19398" y="1341663"/>
            <a:ext cx="6923253" cy="5119307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9398" y="1341663"/>
            <a:ext cx="511931" cy="5119307"/>
          </a:xfrm>
          <a:prstGeom prst="rect">
            <a:avLst/>
          </a:prstGeom>
          <a:solidFill>
            <a:srgbClr val="13171F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3776" y="1463553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2273" y="1463553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3776" y="1762179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2273" y="1762179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'adam'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43776" y="2060805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2273" y="2060805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'binary_crossentropy'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3776" y="2359431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2273" y="2359431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</a:t>
            </a:r>
            <a:r>
              <a:rPr lang="en-US" sz="14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'accuracy'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43776" y="2658058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2273" y="2658058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43776" y="2956684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92273" y="2956684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43776" y="3255310"/>
            <a:ext cx="463175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92273" y="3255310"/>
            <a:ext cx="6252867" cy="268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r>
              <a:rPr lang="en-US" sz="14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374239" y="1341664"/>
            <a:ext cx="4534243" cy="1608925"/>
          </a:xfrm>
          <a:prstGeom prst="rect">
            <a:avLst/>
          </a:prstGeom>
          <a:solidFill>
            <a:srgbClr val="1A1F2B"/>
          </a:solidFill>
          <a:ln w="22860">
            <a:solidFill>
              <a:srgbClr val="FB923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520505" y="1463552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Optimizer: Adam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520505" y="1853594"/>
            <a:ext cx="4290466" cy="93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Adam = Adaptive Moment Estimation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Adjusts learning rate per parameter.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lr = 0.001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Converges fast &amp; reliably.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374239" y="3096854"/>
            <a:ext cx="4534243" cy="1608925"/>
          </a:xfrm>
          <a:prstGeom prst="rect">
            <a:avLst/>
          </a:prstGeom>
          <a:solidFill>
            <a:srgbClr val="1A1F2B"/>
          </a:solidFill>
          <a:ln w="22860">
            <a:solidFill>
              <a:srgbClr val="F8717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520505" y="3218743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📉  Loss: binary_crossentropy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520505" y="3608785"/>
            <a:ext cx="4290466" cy="93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loss for binary (0/1) output.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how far sigmoid output is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true label (0 or 1).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Minimised during backpropagation.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374239" y="4852045"/>
            <a:ext cx="4534243" cy="1608925"/>
          </a:xfrm>
          <a:prstGeom prst="rect">
            <a:avLst/>
          </a:prstGeom>
          <a:solidFill>
            <a:srgbClr val="1A1F2B"/>
          </a:solidFill>
          <a:ln w="22860">
            <a:solidFill>
              <a:srgbClr val="4ADE8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520505" y="4973934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model.summary()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520505" y="5363976"/>
            <a:ext cx="4290466" cy="938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Prints every layer name, output shape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parameter count.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to verify architecture before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starting training.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solidFill>
            <a:srgbClr val="1A1F2B"/>
          </a:solidFill>
          <a:ln w="15240">
            <a:solidFill>
              <a:srgbClr val="FB923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of 5  •  Compile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68153" y="6436592"/>
            <a:ext cx="3656648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Section  •  PlantVillage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5" y="893"/>
            <a:ext cx="0" cy="6856214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372136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743379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4114621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5485864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857107"/>
            <a:ext cx="12188825" cy="0"/>
          </a:xfrm>
          <a:prstGeom prst="line">
            <a:avLst/>
          </a:prstGeom>
          <a:noFill/>
          <a:ln w="6350">
            <a:solidFill>
              <a:srgbClr val="1E25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8154" y="171537"/>
            <a:ext cx="609441" cy="609441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68154" y="171537"/>
            <a:ext cx="60944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866" b="1" dirty="0">
                <a:solidFill>
                  <a:srgbClr val="1317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9483" y="171537"/>
            <a:ext cx="10360501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 Full Code — Complete CNN Model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36050" y="829733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533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single line — nothing deleted — ready to present line by line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68154" y="1244153"/>
            <a:ext cx="11652517" cy="0"/>
          </a:xfrm>
          <a:prstGeom prst="line">
            <a:avLst/>
          </a:prstGeom>
          <a:noFill/>
          <a:ln w="1016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19398" y="1341663"/>
            <a:ext cx="6923253" cy="5119307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9398" y="1341663"/>
            <a:ext cx="511931" cy="5119307"/>
          </a:xfrm>
          <a:prstGeom prst="rect">
            <a:avLst/>
          </a:prstGeom>
          <a:solidFill>
            <a:srgbClr val="13171F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43776" y="1463553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92273" y="1463553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tensorflow.keras.models </a:t>
            </a:r>
            <a:r>
              <a:rPr lang="en-US" sz="1066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3776" y="1651073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2273" y="1651073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tensorflow.keras.layers </a:t>
            </a:r>
            <a:r>
              <a:rPr lang="en-US" sz="1066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MaxPooling2D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43776" y="1838594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2273" y="1838594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GlobalAveragePooling2D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3776" y="2026114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2273" y="2026114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43776" y="2213635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2273" y="2213635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padding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'same'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43776" y="2401155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92273" y="2401155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input_shape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43776" y="2588676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92273" y="2588676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43776" y="2776195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2273" y="2776195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43776" y="2963715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92273" y="2963715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MaxPooling2D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43776" y="3151236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92273" y="3151236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43776" y="3338756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92273" y="3338756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padding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'same'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43776" y="3526277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92273" y="3526277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43776" y="3713797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92273" y="3713797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43776" y="3901318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92273" y="3901318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MaxPooling2D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43776" y="4088838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92273" y="4088838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43776" y="4276359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92273" y="4276359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padding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'same'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243776" y="4463879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92273" y="4463879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243776" y="4651400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92273" y="4651400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MaxPooling2D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43776" y="4838920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92273" y="4838920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243776" y="5026441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92273" y="5026441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GlobalAveragePooling2D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43776" y="5213960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92273" y="5213960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'relu'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43776" y="5401480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92273" y="5401480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243776" y="5589001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792273" y="5589001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'sigmoid'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243776" y="5776521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92273" y="5776521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'adam'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loss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'binary_crossentropy'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243776" y="5964042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792273" y="5964042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metrics</a:t>
            </a:r>
            <a:r>
              <a:rPr lang="en-US" sz="1066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66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'accuracy'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243776" y="6151562"/>
            <a:ext cx="463175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866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92273" y="6151562"/>
            <a:ext cx="6252867" cy="16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066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066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66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r>
              <a:rPr lang="en-US" sz="106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374239" y="1341664"/>
            <a:ext cx="4534243" cy="2486520"/>
          </a:xfrm>
          <a:prstGeom prst="rect">
            <a:avLst/>
          </a:prstGeom>
          <a:solidFill>
            <a:srgbClr val="1A1F2B"/>
          </a:solidFill>
          <a:ln w="22860">
            <a:solidFill>
              <a:srgbClr val="4ADE8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520505" y="1463552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Block Summary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7520505" y="1853594"/>
            <a:ext cx="4290466" cy="1816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1: Conv×2 + BN + Pool + Drop(0.25)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2: Conv×2 + BN + Pool + Drop(0.25)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3: Conv×1 + BN + Pool + Drop(0.30)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Head:    GAP → Dense(128) → Drop(0.5)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 Dense(1, sigmoid)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7374239" y="3974450"/>
            <a:ext cx="4534243" cy="2486520"/>
          </a:xfrm>
          <a:prstGeom prst="rect">
            <a:avLst/>
          </a:prstGeom>
          <a:solidFill>
            <a:srgbClr val="1A1F2B"/>
          </a:solidFill>
          <a:ln w="2286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520505" y="4096338"/>
            <a:ext cx="4290466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  Filter Progression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7520505" y="4486381"/>
            <a:ext cx="4290466" cy="1816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 → 32  →  Block 1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  → 64  →  Block 2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         →  Block 3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128-D after GlobalAvgPool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output unit (sigmoid)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solidFill>
            <a:srgbClr val="1A1F2B"/>
          </a:solidFill>
          <a:ln w="15240">
            <a:solidFill>
              <a:srgbClr val="4ADE8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7374239" y="6436593"/>
            <a:ext cx="4534243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66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 of 5  •  Full Code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268153" y="6436592"/>
            <a:ext cx="3656648" cy="304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CNN Section  •  PlantVillage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90AF5-1F20-A7E2-1184-BBA62B9F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165391-786F-0ECF-B595-90847E307E27}"/>
              </a:ext>
            </a:extLst>
          </p:cNvPr>
          <p:cNvSpPr/>
          <p:nvPr/>
        </p:nvSpPr>
        <p:spPr>
          <a:xfrm>
            <a:off x="1588" y="1786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89DE90-11A3-17C3-B6B7-A02E531ADC86}"/>
              </a:ext>
            </a:extLst>
          </p:cNvPr>
          <p:cNvSpPr/>
          <p:nvPr/>
        </p:nvSpPr>
        <p:spPr>
          <a:xfrm>
            <a:off x="1588" y="976637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BB30166-82BF-4F5B-6A5E-FB1C92CA9276}"/>
              </a:ext>
            </a:extLst>
          </p:cNvPr>
          <p:cNvSpPr/>
          <p:nvPr/>
        </p:nvSpPr>
        <p:spPr>
          <a:xfrm>
            <a:off x="1588" y="1951490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775C61-FEB4-496A-EE61-1FFD7A5C2502}"/>
              </a:ext>
            </a:extLst>
          </p:cNvPr>
          <p:cNvSpPr/>
          <p:nvPr/>
        </p:nvSpPr>
        <p:spPr>
          <a:xfrm>
            <a:off x="1588" y="2926342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7CA726-6302-782A-E2B7-3DFD748193EF}"/>
              </a:ext>
            </a:extLst>
          </p:cNvPr>
          <p:cNvSpPr/>
          <p:nvPr/>
        </p:nvSpPr>
        <p:spPr>
          <a:xfrm>
            <a:off x="1588" y="3901194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03C56B-A626-571F-EAE0-6BA663B75B97}"/>
              </a:ext>
            </a:extLst>
          </p:cNvPr>
          <p:cNvSpPr/>
          <p:nvPr/>
        </p:nvSpPr>
        <p:spPr>
          <a:xfrm>
            <a:off x="1588" y="4876046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0196BED-9F01-7CEE-0EED-7170E2FCD9E6}"/>
              </a:ext>
            </a:extLst>
          </p:cNvPr>
          <p:cNvSpPr/>
          <p:nvPr/>
        </p:nvSpPr>
        <p:spPr>
          <a:xfrm>
            <a:off x="1588" y="5850898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AE77724-E33C-3C9C-A34E-42DA808CDEC4}"/>
              </a:ext>
            </a:extLst>
          </p:cNvPr>
          <p:cNvSpPr/>
          <p:nvPr/>
        </p:nvSpPr>
        <p:spPr>
          <a:xfrm>
            <a:off x="1588" y="6825750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B6FB037-BC52-5AB7-1AB4-B82D5436830C}"/>
              </a:ext>
            </a:extLst>
          </p:cNvPr>
          <p:cNvSpPr/>
          <p:nvPr/>
        </p:nvSpPr>
        <p:spPr>
          <a:xfrm>
            <a:off x="-1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6E51FA-944C-187A-0C29-E9E85CDC9502}"/>
              </a:ext>
            </a:extLst>
          </p:cNvPr>
          <p:cNvSpPr/>
          <p:nvPr/>
        </p:nvSpPr>
        <p:spPr>
          <a:xfrm>
            <a:off x="976440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5CA910A-4B1F-8BF3-741E-BEA409595B21}"/>
              </a:ext>
            </a:extLst>
          </p:cNvPr>
          <p:cNvSpPr/>
          <p:nvPr/>
        </p:nvSpPr>
        <p:spPr>
          <a:xfrm>
            <a:off x="1951290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17D2963-BE24-77AB-6EB1-43B5B6310332}"/>
              </a:ext>
            </a:extLst>
          </p:cNvPr>
          <p:cNvSpPr/>
          <p:nvPr/>
        </p:nvSpPr>
        <p:spPr>
          <a:xfrm>
            <a:off x="2926144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973982E-1CAA-E759-4DED-7B0B83500E3B}"/>
              </a:ext>
            </a:extLst>
          </p:cNvPr>
          <p:cNvSpPr/>
          <p:nvPr/>
        </p:nvSpPr>
        <p:spPr>
          <a:xfrm>
            <a:off x="3900995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016F790-1386-62D7-7E63-B3DA6BA11E71}"/>
              </a:ext>
            </a:extLst>
          </p:cNvPr>
          <p:cNvSpPr/>
          <p:nvPr/>
        </p:nvSpPr>
        <p:spPr>
          <a:xfrm>
            <a:off x="4875848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49B521B-D11B-023C-02C4-5EB4272822A9}"/>
              </a:ext>
            </a:extLst>
          </p:cNvPr>
          <p:cNvSpPr/>
          <p:nvPr/>
        </p:nvSpPr>
        <p:spPr>
          <a:xfrm>
            <a:off x="5850699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068BED3-D933-74E3-791D-C948C8C0B717}"/>
              </a:ext>
            </a:extLst>
          </p:cNvPr>
          <p:cNvSpPr/>
          <p:nvPr/>
        </p:nvSpPr>
        <p:spPr>
          <a:xfrm>
            <a:off x="6825552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2629279-5647-1BE0-1F6A-73376928F02C}"/>
              </a:ext>
            </a:extLst>
          </p:cNvPr>
          <p:cNvSpPr/>
          <p:nvPr/>
        </p:nvSpPr>
        <p:spPr>
          <a:xfrm>
            <a:off x="7800404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38F5FA4-7147-808A-C2D9-D13413491B09}"/>
              </a:ext>
            </a:extLst>
          </p:cNvPr>
          <p:cNvSpPr/>
          <p:nvPr/>
        </p:nvSpPr>
        <p:spPr>
          <a:xfrm>
            <a:off x="8775256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09D7D5E-5FF2-6700-982A-788BB1D66970}"/>
              </a:ext>
            </a:extLst>
          </p:cNvPr>
          <p:cNvSpPr/>
          <p:nvPr/>
        </p:nvSpPr>
        <p:spPr>
          <a:xfrm>
            <a:off x="9750108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50B6D89-B9FC-15F3-5A79-2713BB6096C7}"/>
              </a:ext>
            </a:extLst>
          </p:cNvPr>
          <p:cNvSpPr/>
          <p:nvPr/>
        </p:nvSpPr>
        <p:spPr>
          <a:xfrm>
            <a:off x="10724960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8B88751-F403-C544-F5E8-AE73C0E287D6}"/>
              </a:ext>
            </a:extLst>
          </p:cNvPr>
          <p:cNvSpPr/>
          <p:nvPr/>
        </p:nvSpPr>
        <p:spPr>
          <a:xfrm>
            <a:off x="11699812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48FB411-CCB6-2443-0873-505D487A163D}"/>
              </a:ext>
            </a:extLst>
          </p:cNvPr>
          <p:cNvSpPr/>
          <p:nvPr/>
        </p:nvSpPr>
        <p:spPr>
          <a:xfrm>
            <a:off x="9506394" y="1787"/>
            <a:ext cx="60928" cy="6854429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041A63A-AE01-EA09-AD48-9318F158B92A}"/>
              </a:ext>
            </a:extLst>
          </p:cNvPr>
          <p:cNvSpPr/>
          <p:nvPr/>
        </p:nvSpPr>
        <p:spPr>
          <a:xfrm>
            <a:off x="9689180" y="5850899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D01F726-0492-5123-256E-6CB123211404}"/>
              </a:ext>
            </a:extLst>
          </p:cNvPr>
          <p:cNvSpPr/>
          <p:nvPr/>
        </p:nvSpPr>
        <p:spPr>
          <a:xfrm>
            <a:off x="854583" y="1464064"/>
            <a:ext cx="8286243" cy="7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>
              <a:defRPr/>
            </a:pPr>
            <a:r>
              <a:rPr lang="en-US" sz="4797" b="1" dirty="0">
                <a:solidFill>
                  <a:srgbClr val="F0F6FF"/>
                </a:solidFill>
                <a:latin typeface="Calibri" panose="020F0502020204030204"/>
              </a:rPr>
              <a:t>🚀 Model Training</a:t>
            </a:r>
            <a:endParaRPr lang="en-US" sz="4797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4797" b="1" dirty="0">
                <a:solidFill>
                  <a:srgbClr val="FF0000"/>
                </a:solidFill>
                <a:latin typeface="Calibri" panose="020F0502020204030204"/>
              </a:rPr>
              <a:t>Section 3  </a:t>
            </a:r>
            <a:endParaRPr lang="en-US" sz="4797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BFA8CFC-F68F-A547-07FF-6C7763852C2A}"/>
              </a:ext>
            </a:extLst>
          </p:cNvPr>
          <p:cNvSpPr/>
          <p:nvPr/>
        </p:nvSpPr>
        <p:spPr>
          <a:xfrm>
            <a:off x="915514" y="2621701"/>
            <a:ext cx="8286243" cy="60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2933" b="1" dirty="0">
                <a:solidFill>
                  <a:srgbClr val="3FB950"/>
                </a:solidFill>
                <a:latin typeface="Calibri" panose="020F0502020204030204"/>
              </a:rPr>
              <a:t>PlantVillage — Healthy vs Diseased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7BEC3CFC-A39A-2B3C-4092-234E49B456BD}"/>
              </a:ext>
            </a:extLst>
          </p:cNvPr>
          <p:cNvSpPr/>
          <p:nvPr/>
        </p:nvSpPr>
        <p:spPr>
          <a:xfrm>
            <a:off x="8312200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39D353">
              <a:alpha val="25000"/>
            </a:srgbClr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BDAA66B8-0846-57B7-CBEF-5CF73625AB7A}"/>
              </a:ext>
            </a:extLst>
          </p:cNvPr>
          <p:cNvSpPr/>
          <p:nvPr/>
        </p:nvSpPr>
        <p:spPr>
          <a:xfrm>
            <a:off x="8312200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39D353"/>
                </a:solidFill>
                <a:latin typeface="Calibri" panose="020F0502020204030204"/>
              </a:rPr>
              <a:t>7  Comparison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18716EE-6202-C2D7-4001-86B486146033}"/>
              </a:ext>
            </a:extLst>
          </p:cNvPr>
          <p:cNvSpPr/>
          <p:nvPr/>
        </p:nvSpPr>
        <p:spPr>
          <a:xfrm>
            <a:off x="854582" y="6216469"/>
            <a:ext cx="852995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dirty="0">
                <a:solidFill>
                  <a:srgbClr val="484F58"/>
                </a:solidFill>
                <a:latin typeface="Calibri" panose="020F0502020204030204"/>
              </a:rPr>
              <a:t>ANN Model  •  Python / TensorFlow  •  Binary Classification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37">
            <a:extLst>
              <a:ext uri="{FF2B5EF4-FFF2-40B4-BE49-F238E27FC236}">
                <a16:creationId xmlns:a16="http://schemas.microsoft.com/office/drawing/2014/main" id="{9634A524-9393-B9B8-EDA5-4BF9EE60A811}"/>
              </a:ext>
            </a:extLst>
          </p:cNvPr>
          <p:cNvSpPr/>
          <p:nvPr/>
        </p:nvSpPr>
        <p:spPr>
          <a:xfrm>
            <a:off x="854582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38">
            <a:extLst>
              <a:ext uri="{FF2B5EF4-FFF2-40B4-BE49-F238E27FC236}">
                <a16:creationId xmlns:a16="http://schemas.microsoft.com/office/drawing/2014/main" id="{1BF4C10A-2BFD-8243-F92E-2E42782DADC0}"/>
              </a:ext>
            </a:extLst>
          </p:cNvPr>
          <p:cNvSpPr/>
          <p:nvPr/>
        </p:nvSpPr>
        <p:spPr>
          <a:xfrm>
            <a:off x="854582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3FB950"/>
                </a:solidFill>
                <a:latin typeface="Calibri" panose="020F0502020204030204"/>
              </a:rPr>
              <a:t>1  Generators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39">
            <a:extLst>
              <a:ext uri="{FF2B5EF4-FFF2-40B4-BE49-F238E27FC236}">
                <a16:creationId xmlns:a16="http://schemas.microsoft.com/office/drawing/2014/main" id="{2053D6B6-228F-16D3-0CB7-9BF48D07E8E1}"/>
              </a:ext>
            </a:extLst>
          </p:cNvPr>
          <p:cNvSpPr/>
          <p:nvPr/>
        </p:nvSpPr>
        <p:spPr>
          <a:xfrm>
            <a:off x="2097519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40">
            <a:extLst>
              <a:ext uri="{FF2B5EF4-FFF2-40B4-BE49-F238E27FC236}">
                <a16:creationId xmlns:a16="http://schemas.microsoft.com/office/drawing/2014/main" id="{56057295-144D-56A0-21D1-065D787322E3}"/>
              </a:ext>
            </a:extLst>
          </p:cNvPr>
          <p:cNvSpPr/>
          <p:nvPr/>
        </p:nvSpPr>
        <p:spPr>
          <a:xfrm>
            <a:off x="2097519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58A6FF"/>
                </a:solidFill>
                <a:latin typeface="Calibri" panose="020F0502020204030204"/>
              </a:rPr>
              <a:t>2  Architecture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41">
            <a:extLst>
              <a:ext uri="{FF2B5EF4-FFF2-40B4-BE49-F238E27FC236}">
                <a16:creationId xmlns:a16="http://schemas.microsoft.com/office/drawing/2014/main" id="{D159F524-81ED-FACB-8927-5D1C562049DE}"/>
              </a:ext>
            </a:extLst>
          </p:cNvPr>
          <p:cNvSpPr/>
          <p:nvPr/>
        </p:nvSpPr>
        <p:spPr>
          <a:xfrm>
            <a:off x="3340455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FFA657">
              <a:alpha val="25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42">
            <a:extLst>
              <a:ext uri="{FF2B5EF4-FFF2-40B4-BE49-F238E27FC236}">
                <a16:creationId xmlns:a16="http://schemas.microsoft.com/office/drawing/2014/main" id="{75A2244F-37F6-D93B-B5D1-EA4B9BB54C90}"/>
              </a:ext>
            </a:extLst>
          </p:cNvPr>
          <p:cNvSpPr/>
          <p:nvPr/>
        </p:nvSpPr>
        <p:spPr>
          <a:xfrm>
            <a:off x="3340455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FFA657"/>
                </a:solidFill>
                <a:latin typeface="Calibri" panose="020F0502020204030204"/>
              </a:rPr>
              <a:t>3  Callbacks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43">
            <a:extLst>
              <a:ext uri="{FF2B5EF4-FFF2-40B4-BE49-F238E27FC236}">
                <a16:creationId xmlns:a16="http://schemas.microsoft.com/office/drawing/2014/main" id="{48FDC8FA-57C0-F573-4515-45A1BB24B290}"/>
              </a:ext>
            </a:extLst>
          </p:cNvPr>
          <p:cNvSpPr/>
          <p:nvPr/>
        </p:nvSpPr>
        <p:spPr>
          <a:xfrm>
            <a:off x="4583391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BC8CFF">
              <a:alpha val="25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44">
            <a:extLst>
              <a:ext uri="{FF2B5EF4-FFF2-40B4-BE49-F238E27FC236}">
                <a16:creationId xmlns:a16="http://schemas.microsoft.com/office/drawing/2014/main" id="{BF60D3D7-023D-467E-58EC-5B1209999D69}"/>
              </a:ext>
            </a:extLst>
          </p:cNvPr>
          <p:cNvSpPr/>
          <p:nvPr/>
        </p:nvSpPr>
        <p:spPr>
          <a:xfrm>
            <a:off x="4583391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BC8CFF"/>
                </a:solidFill>
                <a:latin typeface="Calibri" panose="020F0502020204030204"/>
              </a:rPr>
              <a:t>4  Training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45">
            <a:extLst>
              <a:ext uri="{FF2B5EF4-FFF2-40B4-BE49-F238E27FC236}">
                <a16:creationId xmlns:a16="http://schemas.microsoft.com/office/drawing/2014/main" id="{4171F675-C2EC-C8C2-D03B-F63539698D93}"/>
              </a:ext>
            </a:extLst>
          </p:cNvPr>
          <p:cNvSpPr/>
          <p:nvPr/>
        </p:nvSpPr>
        <p:spPr>
          <a:xfrm>
            <a:off x="5826327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FF7B72">
              <a:alpha val="25000"/>
            </a:srgbClr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46">
            <a:extLst>
              <a:ext uri="{FF2B5EF4-FFF2-40B4-BE49-F238E27FC236}">
                <a16:creationId xmlns:a16="http://schemas.microsoft.com/office/drawing/2014/main" id="{FC50B4E4-39E4-808A-8B78-E3FF5947AC14}"/>
              </a:ext>
            </a:extLst>
          </p:cNvPr>
          <p:cNvSpPr/>
          <p:nvPr/>
        </p:nvSpPr>
        <p:spPr>
          <a:xfrm>
            <a:off x="5826327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FF7B72"/>
                </a:solidFill>
                <a:latin typeface="Calibri" panose="020F0502020204030204"/>
              </a:rPr>
              <a:t>5  Visualization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Shape 47">
            <a:extLst>
              <a:ext uri="{FF2B5EF4-FFF2-40B4-BE49-F238E27FC236}">
                <a16:creationId xmlns:a16="http://schemas.microsoft.com/office/drawing/2014/main" id="{79544E2B-D012-92A5-1921-48DB767A1381}"/>
              </a:ext>
            </a:extLst>
          </p:cNvPr>
          <p:cNvSpPr/>
          <p:nvPr/>
        </p:nvSpPr>
        <p:spPr>
          <a:xfrm>
            <a:off x="7069263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E3B341">
              <a:alpha val="25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48">
            <a:extLst>
              <a:ext uri="{FF2B5EF4-FFF2-40B4-BE49-F238E27FC236}">
                <a16:creationId xmlns:a16="http://schemas.microsoft.com/office/drawing/2014/main" id="{EF886074-20D7-528E-F6BF-81E939B98948}"/>
              </a:ext>
            </a:extLst>
          </p:cNvPr>
          <p:cNvSpPr/>
          <p:nvPr/>
        </p:nvSpPr>
        <p:spPr>
          <a:xfrm>
            <a:off x="7069263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E3B341"/>
                </a:solidFill>
                <a:latin typeface="Calibri" panose="020F0502020204030204"/>
              </a:rPr>
              <a:t>6  Evaluation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96577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157" y="221129"/>
            <a:ext cx="511797" cy="511797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157" y="221129"/>
            <a:ext cx="511797" cy="51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>
              <a:defRPr/>
            </a:pPr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1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7368" y="184572"/>
            <a:ext cx="9139238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>
              <a:defRPr/>
            </a:pPr>
            <a:r>
              <a:rPr lang="en-US" sz="2133" b="1" dirty="0">
                <a:solidFill>
                  <a:srgbClr val="F0F6FF"/>
                </a:solidFill>
                <a:latin typeface="Calibri" panose="020F0502020204030204"/>
              </a:rPr>
              <a:t>🚀 Model Training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7368" y="635440"/>
            <a:ext cx="10357803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>
              <a:defRPr/>
            </a:pPr>
            <a:r>
              <a:rPr lang="en-US" sz="1333" i="1" dirty="0">
                <a:solidFill>
                  <a:srgbClr val="8B949E"/>
                </a:solidFill>
                <a:latin typeface="Calibri" panose="020F0502020204030204"/>
              </a:rPr>
              <a:t>model.fit() — trains CNN on batches for 5 epochs with callbacks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7158" y="1001011"/>
            <a:ext cx="7189534" cy="3046413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39209" y="1001009"/>
            <a:ext cx="432590" cy="505300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56034" y="1293466"/>
            <a:ext cx="7128606" cy="505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# CNN Training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569CD6"/>
                </a:solidFill>
                <a:latin typeface="Consolas" panose="020B0609020204030204" pitchFamily="49" charset="0"/>
              </a:rPr>
              <a:t>checkpoint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ModelCheckpoint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"/content/drive/</a:t>
            </a:r>
            <a:r>
              <a:rPr lang="en-US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MyDrive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/best_model.h5"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monitor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val_accuracy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save_best_only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True, </a:t>
            </a:r>
            <a:r>
              <a:rPr lang="en-US" sz="1200" dirty="0">
                <a:solidFill>
                  <a:srgbClr val="569CD6"/>
                </a:solidFill>
                <a:latin typeface="Consolas" panose="020B0609020204030204" pitchFamily="49" charset="0"/>
              </a:rPr>
              <a:t>verbose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endParaRPr lang="en-US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defTabSz="457086">
              <a:lnSpc>
                <a:spcPts val="1800"/>
              </a:lnSpc>
            </a:pP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early_stop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EarlyStopping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monitor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val_accuracy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patience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restore_best_weights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True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defTabSz="457086">
              <a:lnSpc>
                <a:spcPts val="1800"/>
              </a:lnSpc>
            </a:pP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reduce_lr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ReduceLROnPlateau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monitor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val_accuracy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factor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patience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569CD6"/>
                </a:solidFill>
                <a:latin typeface="Consolas" panose="020B0609020204030204" pitchFamily="49" charset="0"/>
              </a:rPr>
              <a:t>verbose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min_lr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1e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endParaRPr lang="en-US" sz="12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defTabSz="457086">
              <a:lnSpc>
                <a:spcPts val="1800"/>
              </a:lnSpc>
            </a:pP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train_gen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train_datagen.flow_from_dataframe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train_df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x_col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image_path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y_col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"label"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target_size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128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128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class_mode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"binary"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batch_size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32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shuffle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True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defTabSz="457086">
              <a:lnSpc>
                <a:spcPts val="1800"/>
              </a:lnSpc>
            </a:pP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val_gen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val_datagen.flow_from_dataframe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val_df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x_col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image_path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y_col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"label"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target_size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128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128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class_mode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E9178"/>
                </a:solidFill>
                <a:latin typeface="Consolas" panose="020B0609020204030204" pitchFamily="49" charset="0"/>
              </a:rPr>
              <a:t>"binary"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CCCCCC"/>
                </a:solidFill>
                <a:latin typeface="Consolas" panose="020B0609020204030204" pitchFamily="49" charset="0"/>
              </a:rPr>
              <a:t>batch_size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B5CEA8"/>
                </a:solidFill>
                <a:latin typeface="Consolas" panose="020B0609020204030204" pitchFamily="49" charset="0"/>
              </a:rPr>
              <a:t>32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, shuffle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False</a:t>
            </a:r>
          </a:p>
          <a:p>
            <a:pPr defTabSz="457086">
              <a:lnSpc>
                <a:spcPts val="1800"/>
              </a:lnSpc>
            </a:pP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 defTabSz="457086">
              <a:lnSpc>
                <a:spcPts val="1800"/>
              </a:lnSpc>
            </a:pPr>
            <a:b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</a:p>
        </p:txBody>
      </p:sp>
      <p:sp>
        <p:nvSpPr>
          <p:cNvPr id="9" name="Shape 7"/>
          <p:cNvSpPr/>
          <p:nvPr/>
        </p:nvSpPr>
        <p:spPr>
          <a:xfrm>
            <a:off x="7739475" y="1001011"/>
            <a:ext cx="4082193" cy="2071560"/>
          </a:xfrm>
          <a:prstGeom prst="rect">
            <a:avLst/>
          </a:prstGeom>
          <a:solidFill>
            <a:srgbClr val="21262D"/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476" y="1001011"/>
            <a:ext cx="73114" cy="20715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2260" y="1074123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>
              <a:defRPr/>
            </a:pPr>
            <a:r>
              <a:rPr lang="en-US" sz="1333" b="1" dirty="0">
                <a:solidFill>
                  <a:srgbClr val="BC8CFF"/>
                </a:solidFill>
                <a:latin typeface="Calibri" panose="020F0502020204030204"/>
              </a:rPr>
              <a:t>📋 fit() Parameters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22260" y="1366579"/>
            <a:ext cx="3838480" cy="163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train_gen        →  training data generator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validation_data  →  val_gen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epochs           →  30  (max training rounds)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callbacks        →  list of 3 callbacks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39475" y="3230983"/>
            <a:ext cx="4082193" cy="1827848"/>
          </a:xfrm>
          <a:prstGeom prst="rect">
            <a:avLst/>
          </a:prstGeom>
          <a:solidFill>
            <a:srgbClr val="21262D"/>
          </a:solidFill>
          <a:ln w="1905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39476" y="3230983"/>
            <a:ext cx="73114" cy="182784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22260" y="3304097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>
              <a:defRPr/>
            </a:pPr>
            <a:r>
              <a:rPr lang="en-US" sz="1333" b="1" dirty="0">
                <a:solidFill>
                  <a:srgbClr val="FFA657"/>
                </a:solidFill>
                <a:latin typeface="Calibri" panose="020F0502020204030204"/>
              </a:rPr>
              <a:t>⚙️ Callbacks Passed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2260" y="3596553"/>
            <a:ext cx="3838480" cy="1389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Checkpoint </a:t>
            </a:r>
            <a:r>
              <a:rPr lang="en-US" sz="1200">
                <a:solidFill>
                  <a:srgbClr val="F0F6FF"/>
                </a:solidFill>
                <a:latin typeface="Calibri" panose="020F0502020204030204"/>
              </a:rPr>
              <a:t>+generator   </a:t>
            </a: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saves best model to Drive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early_stop   →  stops if val_acc stalls (patience=5)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reduce_lr    →  halves LR if val_acc stalls (patience=3)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39475" y="5217245"/>
            <a:ext cx="4082193" cy="1462278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39476" y="5217245"/>
            <a:ext cx="73114" cy="146227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22260" y="5290360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>
              <a:defRPr/>
            </a:pPr>
            <a:r>
              <a:rPr lang="en-US" sz="1333" b="1" dirty="0">
                <a:solidFill>
                  <a:srgbClr val="3FB950"/>
                </a:solidFill>
                <a:latin typeface="Calibri" panose="020F0502020204030204"/>
              </a:rPr>
              <a:t>📊 Returns: history object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22260" y="5582815"/>
            <a:ext cx="3838480" cy="102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history.history['accuracy']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history.history['val_accuracy']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history.history['loss']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history.history['val_loss']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157" y="221129"/>
            <a:ext cx="511797" cy="511797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157" y="221129"/>
            <a:ext cx="511797" cy="51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>
              <a:defRPr/>
            </a:pPr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1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7368" y="184572"/>
            <a:ext cx="9139238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>
              <a:defRPr/>
            </a:pPr>
            <a:r>
              <a:rPr lang="en-US" sz="2133" b="1" dirty="0">
                <a:solidFill>
                  <a:srgbClr val="F0F6FF"/>
                </a:solidFill>
                <a:latin typeface="Calibri" panose="020F0502020204030204"/>
              </a:rPr>
              <a:t>🚀 Model Training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7368" y="635440"/>
            <a:ext cx="10357803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>
              <a:defRPr/>
            </a:pPr>
            <a:r>
              <a:rPr lang="en-US" sz="1333" i="1" dirty="0">
                <a:solidFill>
                  <a:srgbClr val="8B949E"/>
                </a:solidFill>
                <a:latin typeface="Calibri" panose="020F0502020204030204"/>
              </a:rPr>
              <a:t>model.fit() — trains CNN on batches for 5 epochs with callbacks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7158" y="1001011"/>
            <a:ext cx="7189534" cy="3046413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7157" y="1001011"/>
            <a:ext cx="304642" cy="3046413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1529" y="1159423"/>
            <a:ext cx="7128606" cy="2680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>
              <a:defRPr/>
            </a:pPr>
            <a:r>
              <a:rPr lang="en-US" sz="11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1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history = </a:t>
            </a:r>
            <a:r>
              <a:rPr lang="en-US" sz="1133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133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.fit(
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1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r>
              <a:rPr lang="en-US" sz="1133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train_gen,
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1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1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validation_data=</a:t>
            </a:r>
            <a:r>
              <a:rPr lang="en-US" sz="1133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val_gen,
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1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r>
              <a:rPr lang="en-US" sz="11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epochs=</a:t>
            </a:r>
            <a:r>
              <a:rPr lang="en-US" sz="11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1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1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r>
              <a:rPr lang="en-US" sz="11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callbacks=[</a:t>
            </a:r>
            <a:r>
              <a:rPr lang="en-US" sz="1133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</a:t>
            </a:r>
            <a:r>
              <a:rPr lang="en-US" sz="11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33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</a:t>
            </a:r>
            <a:r>
              <a:rPr lang="en-US" sz="11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33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reduce_lr</a:t>
            </a:r>
            <a:r>
              <a:rPr lang="en-US" sz="11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1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r>
              <a:rPr lang="en-US" sz="11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39475" y="1001011"/>
            <a:ext cx="4082193" cy="2071560"/>
          </a:xfrm>
          <a:prstGeom prst="rect">
            <a:avLst/>
          </a:prstGeom>
          <a:solidFill>
            <a:srgbClr val="21262D"/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476" y="1001011"/>
            <a:ext cx="73114" cy="20715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2260" y="1074123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>
              <a:defRPr/>
            </a:pPr>
            <a:r>
              <a:rPr lang="en-US" sz="1333" b="1" dirty="0">
                <a:solidFill>
                  <a:srgbClr val="BC8CFF"/>
                </a:solidFill>
                <a:latin typeface="Calibri" panose="020F0502020204030204"/>
              </a:rPr>
              <a:t>📋 fit() Parameters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22260" y="1366579"/>
            <a:ext cx="3838480" cy="163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train_gen        →  training data generator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validation_data  →  val_gen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epochs           →  30  (max training rounds)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callbacks        →  list of 3 callbacks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39475" y="3230983"/>
            <a:ext cx="4082193" cy="1827848"/>
          </a:xfrm>
          <a:prstGeom prst="rect">
            <a:avLst/>
          </a:prstGeom>
          <a:solidFill>
            <a:srgbClr val="21262D"/>
          </a:solidFill>
          <a:ln w="1905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39476" y="3230983"/>
            <a:ext cx="73114" cy="182784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22260" y="3304097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>
              <a:defRPr/>
            </a:pPr>
            <a:r>
              <a:rPr lang="en-US" sz="1333" b="1" dirty="0">
                <a:solidFill>
                  <a:srgbClr val="FFA657"/>
                </a:solidFill>
                <a:latin typeface="Calibri" panose="020F0502020204030204"/>
              </a:rPr>
              <a:t>⚙️ Callbacks Passed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2260" y="3596553"/>
            <a:ext cx="3838480" cy="1389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checkpoint   →  saves best model to Drive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early_stop   →  stops if val_acc stalls (patience=5)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reduce_lr    →  halves LR if val_acc stalls (patience=3)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39475" y="5217245"/>
            <a:ext cx="4082193" cy="1462278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39476" y="5217245"/>
            <a:ext cx="73114" cy="146227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22260" y="5290360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>
              <a:defRPr/>
            </a:pPr>
            <a:r>
              <a:rPr lang="en-US" sz="1333" b="1" dirty="0">
                <a:solidFill>
                  <a:srgbClr val="3FB950"/>
                </a:solidFill>
                <a:latin typeface="Calibri" panose="020F0502020204030204"/>
              </a:rPr>
              <a:t>📊 Returns: history object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22260" y="5582815"/>
            <a:ext cx="3838480" cy="1023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history.history['accuracy']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history.history['val_accuracy']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history.history['loss']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>
              <a:defRPr/>
            </a:pP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history.history['val_loss']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7157" y="4291135"/>
            <a:ext cx="48742" cy="389941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7157" y="4754190"/>
            <a:ext cx="48742" cy="389941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7157" y="5217244"/>
            <a:ext cx="48742" cy="389941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67157" y="5680299"/>
            <a:ext cx="48742" cy="389941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7157" y="6143354"/>
            <a:ext cx="48742" cy="389941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>
              <a:defRPr/>
            </a:pPr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8EF28F9-7897-8C0A-0055-F86FE4191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76" y="4009015"/>
            <a:ext cx="7189535" cy="26885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88401" y="854111"/>
            <a:ext cx="3412871" cy="2437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9598" b="1" dirty="0">
                <a:solidFill>
                  <a:srgbClr val="1F3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959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329" y="1341664"/>
            <a:ext cx="7313295" cy="1096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479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47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329" y="2560546"/>
            <a:ext cx="3656648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2933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2681541" y="3291876"/>
            <a:ext cx="8532178" cy="853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endParaRPr lang="en-US" sz="4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553" y="4327926"/>
            <a:ext cx="2133044" cy="39004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553" y="4327926"/>
            <a:ext cx="2133044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39996" y="4327926"/>
            <a:ext cx="1401715" cy="390042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39996" y="4327926"/>
            <a:ext cx="1401715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61109" y="4327926"/>
            <a:ext cx="1694247" cy="39004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61109" y="4327926"/>
            <a:ext cx="1694247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74755" y="4327926"/>
            <a:ext cx="1401715" cy="390042"/>
          </a:xfrm>
          <a:prstGeom prst="rect">
            <a:avLst/>
          </a:prstGeom>
          <a:solidFill>
            <a:srgbClr val="4051B5"/>
          </a:solidFill>
          <a:ln w="12700">
            <a:solidFill>
              <a:srgbClr val="4051B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74755" y="4327926"/>
            <a:ext cx="1401715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95869" y="4327926"/>
            <a:ext cx="2133044" cy="390042"/>
          </a:xfrm>
          <a:prstGeom prst="rect">
            <a:avLst/>
          </a:prstGeom>
          <a:solidFill>
            <a:srgbClr val="0076A8"/>
          </a:solidFill>
          <a:ln w="12700">
            <a:solidFill>
              <a:srgbClr val="0076A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95869" y="4327926"/>
            <a:ext cx="2133044" cy="3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1888" y="4973933"/>
            <a:ext cx="1803946" cy="67039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21888" y="5034878"/>
            <a:ext cx="1803946" cy="877595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95021" y="5059255"/>
            <a:ext cx="463175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732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7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818" y="5059255"/>
            <a:ext cx="1218883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Eval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998967" y="4973933"/>
            <a:ext cx="1803946" cy="67039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998967" y="5034878"/>
            <a:ext cx="1803946" cy="877595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72100" y="5059255"/>
            <a:ext cx="463175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732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7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510897" y="5059255"/>
            <a:ext cx="1218883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Eval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76046" y="4973933"/>
            <a:ext cx="1803946" cy="67039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876046" y="5034878"/>
            <a:ext cx="1803946" cy="877595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949179" y="5059255"/>
            <a:ext cx="463175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732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7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387976" y="5059255"/>
            <a:ext cx="1218883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753125" y="4973933"/>
            <a:ext cx="1803946" cy="67039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753125" y="5034878"/>
            <a:ext cx="1803946" cy="877595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26258" y="5059255"/>
            <a:ext cx="463175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732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7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265055" y="5059255"/>
            <a:ext cx="1218883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630204" y="4973933"/>
            <a:ext cx="1803946" cy="67039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30204" y="5034878"/>
            <a:ext cx="1803946" cy="877595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03337" y="5059255"/>
            <a:ext cx="463175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732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7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142134" y="5059255"/>
            <a:ext cx="1218883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507283" y="4973933"/>
            <a:ext cx="1803946" cy="67039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507283" y="5034878"/>
            <a:ext cx="1803946" cy="877595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580416" y="5059255"/>
            <a:ext cx="463175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732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7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019213" y="5059255"/>
            <a:ext cx="1218883" cy="79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-1" y="6607236"/>
            <a:ext cx="12188825" cy="249871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-1" y="6607236"/>
            <a:ext cx="12188825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Dataset  •  Python / TensorFlow  •  Binary Classification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9483" y="147159"/>
            <a:ext cx="10726166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CNN Model Evaluation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9483" y="902866"/>
            <a:ext cx="10360501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CNN on unseen test data — compute accuracy and loss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1888" y="1341664"/>
            <a:ext cx="7435183" cy="5180251"/>
          </a:xfrm>
          <a:prstGeom prst="rect">
            <a:avLst/>
          </a:prstGeom>
          <a:solidFill>
            <a:srgbClr val="1A2330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1888" y="1341664"/>
            <a:ext cx="60944" cy="5180251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8154" y="1402608"/>
            <a:ext cx="7191407" cy="5058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4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CNN Evaluation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test_generator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test_datagen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.flow_from_dataframe(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test_df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x_col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"image_path"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y_col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"label"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target_size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class_mode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"binary"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shuffle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
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.evaluate(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test_generator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f"Test Accuracy: {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*100:.2f}%"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f"Test Loss: {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:.4f}"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903" y="1341664"/>
            <a:ext cx="4327033" cy="17673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61792" y="1439174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Parameters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61792" y="1804839"/>
            <a:ext cx="4083256" cy="1218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test_datagen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rescale=1/255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target_size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(128, 128)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class_mode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"binary"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32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shuffle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False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39903" y="3230931"/>
            <a:ext cx="4327033" cy="1279827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861792" y="3328442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model.evaluate() Returns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61792" y="3694107"/>
            <a:ext cx="4083256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float  (e.g. 0.0821)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float  (e.g. 0.9723)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39903" y="4632646"/>
            <a:ext cx="4327033" cy="1218883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861792" y="4730157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Expected Output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61792" y="5095822"/>
            <a:ext cx="4083256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Accuracy: 97.23%
Test Loss:     0.0821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739903" y="5973417"/>
            <a:ext cx="4327033" cy="1096994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861792" y="6070928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shuffle=False?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61792" y="6436593"/>
            <a:ext cx="4083256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Keeps predictions in original order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 y_pred aligns with y_true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-1" y="6607236"/>
            <a:ext cx="12188825" cy="249871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-1" y="6607236"/>
            <a:ext cx="12188825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6  •  CNN Evaluation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9483" y="147159"/>
            <a:ext cx="10726166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ANN Model Evaluation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9483" y="902866"/>
            <a:ext cx="10360501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ANN, generate predictions and probability scores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1888" y="1341664"/>
            <a:ext cx="7435183" cy="5180251"/>
          </a:xfrm>
          <a:prstGeom prst="rect">
            <a:avLst/>
          </a:prstGeom>
          <a:solidFill>
            <a:srgbClr val="1A2330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1888" y="1341664"/>
            <a:ext cx="60944" cy="5180251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8154" y="1402608"/>
            <a:ext cx="7191407" cy="5058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4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ANN Evaluation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test_loss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test_acc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.evaluate(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ann_test_gen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verbose=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f"Test Loss     : {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test_loss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:.4f}"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f"Test Accuracy : {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test_acc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:.4f}"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ann_test_gen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.reset()
</a:t>
            </a:r>
            <a:r>
              <a:rPr lang="en-US" sz="14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probability predictions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y_pred_prob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.predict(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ann_test_gen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).ravel()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y_pred_prob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).astype(</a:t>
            </a:r>
            <a:r>
              <a:rPr lang="en-US" sz="14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y_true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ann_test_gen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.classes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class_names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list(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ann_test_gen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.class_indices.keys())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903" y="1341663"/>
            <a:ext cx="4327033" cy="1706436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61792" y="1439174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Key Steps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61792" y="1804839"/>
            <a:ext cx="4083256" cy="115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verbose=0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suppress output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.reset()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rewind generator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.predict()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probabilities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.ravel()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flatten to 1D
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0.5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threshold to 0/1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39903" y="3169987"/>
            <a:ext cx="4327033" cy="1279827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861792" y="3267498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Threshold Logic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61792" y="3633163"/>
            <a:ext cx="4083256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 &gt;= 0.5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1  (diseased)
</a:t>
            </a:r>
            <a:r>
              <a:rPr lang="en-US" sz="1200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 &lt;  0.5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0  (healthy)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39903" y="4571702"/>
            <a:ext cx="4327033" cy="1218883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861792" y="4669213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Expected Output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61792" y="5034878"/>
            <a:ext cx="4083256" cy="670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Loss     : 0.0934
Test Accuracy : 0.9651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739903" y="5912473"/>
            <a:ext cx="4327033" cy="1096994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861792" y="6009984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.reset()?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861792" y="6375649"/>
            <a:ext cx="4083256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Generators must be rewound before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predict() to start from index 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-1" y="6607236"/>
            <a:ext cx="12188825" cy="249871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-1" y="6607236"/>
            <a:ext cx="12188825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6  •  ANN Evaluation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9483" y="147159"/>
            <a:ext cx="10726166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Classification Report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9483" y="902866"/>
            <a:ext cx="10360501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precision, recall, F1-score from sklearn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1888" y="1341664"/>
            <a:ext cx="7435183" cy="5180251"/>
          </a:xfrm>
          <a:prstGeom prst="rect">
            <a:avLst/>
          </a:prstGeom>
          <a:solidFill>
            <a:srgbClr val="1A2330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1888" y="1341664"/>
            <a:ext cx="60944" cy="5180251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8154" y="1402608"/>
            <a:ext cx="7191407" cy="5058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4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sklearn.metrics </a:t>
            </a:r>
            <a:r>
              <a:rPr lang="en-US" sz="14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classification_report
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classification_report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y_true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y_pred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target_names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class_names
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r>
              <a:rPr lang="en-US" sz="14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Sample output:
#               precision  recall  f1
# diseased         0.97    0.96   0.97
# healthy          0.96    0.97   0.96
# accuracy                        0.97
# macro avg        0.97    0.97   0.97
# weighted avg     0.97    0.97   0.97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903" y="1341664"/>
            <a:ext cx="4327033" cy="2254933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61792" y="1439174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Metrics Explained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61792" y="1804839"/>
            <a:ext cx="4083256" cy="170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TP / (TP + FP)
</a:t>
            </a:r>
            <a:r>
              <a:rPr lang="en-US" sz="12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How many positives
           are truly positive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  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TP / (TP + FN)
</a:t>
            </a:r>
            <a:r>
              <a:rPr lang="en-US" sz="12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Of all actual positives,
           how many detected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f1-score 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* (P*R) / (P+R)
</a:t>
            </a:r>
            <a:r>
              <a:rPr lang="en-US" sz="12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Harmonic mean of P &amp; 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39903" y="3718484"/>
            <a:ext cx="4327033" cy="1279827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861792" y="3815995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Arguments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61792" y="4181660"/>
            <a:ext cx="4083256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y_true        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 truth labels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       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predictions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target_names  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labels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39903" y="5120200"/>
            <a:ext cx="4327033" cy="103605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861792" y="5217710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61792" y="5583375"/>
            <a:ext cx="4083256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avg = unweighted mean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avg = size-adjusted mean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-1" y="6607236"/>
            <a:ext cx="12188825" cy="249871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-1" y="6607236"/>
            <a:ext cx="12188825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6  •  Classification Report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9483" y="147159"/>
            <a:ext cx="10726166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Confusion Matrix — Setup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9483" y="902866"/>
            <a:ext cx="10360501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display the confusion matrix using sklearn and matplotlib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1888" y="1341664"/>
            <a:ext cx="7435183" cy="5180251"/>
          </a:xfrm>
          <a:prstGeom prst="rect">
            <a:avLst/>
          </a:prstGeom>
          <a:solidFill>
            <a:srgbClr val="1A2330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1888" y="1341664"/>
            <a:ext cx="60944" cy="5180251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8154" y="1402608"/>
            <a:ext cx="7191407" cy="5058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4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sklearn.metrics </a:t>
            </a:r>
            <a:r>
              <a:rPr lang="en-US" sz="14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confusion_matrix,\
    ConfusionMatrixDisplay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confusion_matrix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y_true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
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ConfusionMatrixDisplay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confusion_matrix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display_labels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class_names
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.subplots(figsize=(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.plot(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colorbar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cmap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'Blues'
</a:t>
            </a:r>
            <a:r>
              <a:rPr lang="en-US" sz="14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4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</a:t>
            </a:r>
            <a:r>
              <a:rPr lang="en-US" sz="14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.show()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903" y="1341664"/>
            <a:ext cx="4327033" cy="2437765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61792" y="1439174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Confusion Matrix Layout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861792" y="1890161"/>
            <a:ext cx="1462659" cy="914162"/>
          </a:xfrm>
          <a:prstGeom prst="rect">
            <a:avLst/>
          </a:prstGeom>
          <a:solidFill>
            <a:srgbClr val="1A3A5C"/>
          </a:solidFill>
          <a:ln w="12700">
            <a:solidFill>
              <a:srgbClr val="3A5A7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61792" y="1938916"/>
            <a:ext cx="1462659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86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TN</a:t>
            </a:r>
            <a:endParaRPr lang="en-US" sz="1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861792" y="2402091"/>
            <a:ext cx="1462659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385395" y="1890161"/>
            <a:ext cx="1462659" cy="914162"/>
          </a:xfrm>
          <a:prstGeom prst="rect">
            <a:avLst/>
          </a:prstGeom>
          <a:solidFill>
            <a:srgbClr val="3A1A1A"/>
          </a:solidFill>
          <a:ln w="12700">
            <a:solidFill>
              <a:srgbClr val="3A5A7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85395" y="1938916"/>
            <a:ext cx="1462659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86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</a:t>
            </a:r>
            <a:endParaRPr lang="en-US" sz="1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385395" y="2402091"/>
            <a:ext cx="1462659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861792" y="2987155"/>
            <a:ext cx="1462659" cy="914162"/>
          </a:xfrm>
          <a:prstGeom prst="rect">
            <a:avLst/>
          </a:prstGeom>
          <a:solidFill>
            <a:srgbClr val="3A1A1A"/>
          </a:solidFill>
          <a:ln w="12700">
            <a:solidFill>
              <a:srgbClr val="3A5A7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861792" y="3035910"/>
            <a:ext cx="1462659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86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endParaRPr lang="en-US" sz="1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861792" y="3499086"/>
            <a:ext cx="1462659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385395" y="2987155"/>
            <a:ext cx="1462659" cy="914162"/>
          </a:xfrm>
          <a:prstGeom prst="rect">
            <a:avLst/>
          </a:prstGeom>
          <a:solidFill>
            <a:srgbClr val="1A3A5C"/>
          </a:solidFill>
          <a:ln w="12700">
            <a:solidFill>
              <a:srgbClr val="3A5A7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385395" y="3035910"/>
            <a:ext cx="1462659" cy="487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86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</a:t>
            </a:r>
            <a:endParaRPr lang="en-US" sz="18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385395" y="3499086"/>
            <a:ext cx="1462659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861792" y="3998828"/>
            <a:ext cx="3047206" cy="268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 rot="16200000">
            <a:off x="10908998" y="1829217"/>
            <a:ext cx="1096994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Actual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739903" y="3901317"/>
            <a:ext cx="4327033" cy="1218883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861792" y="3998828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Plot Parameters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861792" y="4327926"/>
            <a:ext cx="4083256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figsize=(6,5)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figure size (inches)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colorbar=False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remove sidebar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cmap='Blues'</a:t>
            </a:r>
            <a:r>
              <a:rPr lang="en-US" sz="1200" dirty="0">
                <a:solidFill>
                  <a:srgbClr val="C0D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blue color scale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39903" y="5242088"/>
            <a:ext cx="4327033" cy="1279827"/>
          </a:xfrm>
          <a:prstGeom prst="rect">
            <a:avLst/>
          </a:prstGeom>
          <a:solidFill>
            <a:srgbClr val="1E2D3D"/>
          </a:solidFill>
          <a:ln w="12700">
            <a:solidFill>
              <a:srgbClr val="2A3E5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861792" y="5339598"/>
            <a:ext cx="4083256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Confusion Matrix?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861792" y="5705263"/>
            <a:ext cx="4083256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classes the model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confuses — FP vs FN breakdown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single accuracy number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-1" y="6607236"/>
            <a:ext cx="12188825" cy="249871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-1" y="6607236"/>
            <a:ext cx="12188825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6  •  Confusion Matrix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9483" y="147159"/>
            <a:ext cx="10726166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Full Evaluation Code — CNN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9483" y="902866"/>
            <a:ext cx="10360501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CNN evaluation block — from generator to metrics display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1888" y="1341664"/>
            <a:ext cx="11945049" cy="5180251"/>
          </a:xfrm>
          <a:prstGeom prst="rect">
            <a:avLst/>
          </a:prstGeom>
          <a:solidFill>
            <a:srgbClr val="1A2330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1888" y="1341664"/>
            <a:ext cx="60944" cy="5180251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8154" y="1402608"/>
            <a:ext cx="11640328" cy="5058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2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══════════════════════════════════════════════════
# CNN EVALUATION
# ══════════════════════════════════════════════════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test_generator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test_datagen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.flow_from_dataframe(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test_df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x_col=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"image_path"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y_col=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"label"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target_size=(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class_mode=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"binary"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batch_size=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shuffle=</a:t>
            </a:r>
            <a:r>
              <a:rPr lang="en-US" sz="12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
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.evaluate(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test_generator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print(f"Test Accuracy: {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*100:.2f}%")  print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f"Test Loss: {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:.4f}"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2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══════════════════════════════════════════════════
# ANN EVALUATION
# ══════════════════════════════════════════════════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test_loss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test_acc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.evaluate(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ann_test_gen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verbose=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print(f"Test Loss     : {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test_loss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:.4f}")  print(f"Test Accuracy : {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test_acc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:.4f}")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ann_test_gen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.reset()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y_pred_prob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.predict(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ann_test_gen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).ravel() 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y_pred_prob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).astype(</a:t>
            </a:r>
            <a:r>
              <a:rPr lang="en-US" sz="12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y_true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ann_test_gen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.classes 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class_names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list(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ann_test_gen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.class_indices.keys())
print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classification_report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y_true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target_names=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class_names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)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confusion_matrix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y_true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ConfusionMatrixDisplay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confusion_matrix=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display_labels=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class_names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.subplots(figsize=(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.plot( ax=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colorbar=</a:t>
            </a:r>
            <a:r>
              <a:rPr lang="en-US" sz="12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cmap=</a:t>
            </a: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'Blues'</a:t>
            </a: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 </a:t>
            </a:r>
            <a:r>
              <a:rPr lang="en-US" sz="120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</a:t>
            </a:r>
            <a:r>
              <a:rPr lang="en-US" sz="12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.show()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-1" y="6607236"/>
            <a:ext cx="12188825" cy="249871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-1" y="6607236"/>
            <a:ext cx="12188825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6  •  Complete Code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8532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1888" y="147159"/>
            <a:ext cx="731330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9483" y="147159"/>
            <a:ext cx="10726166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Evaluation Results Summary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9483" y="902866"/>
            <a:ext cx="10360501" cy="31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CNN vs ANN performance on test set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664" y="1402608"/>
            <a:ext cx="5241195" cy="4631754"/>
          </a:xfrm>
          <a:prstGeom prst="rect">
            <a:avLst/>
          </a:prstGeom>
          <a:solidFill>
            <a:srgbClr val="1A2535"/>
          </a:solidFill>
          <a:ln w="12700">
            <a:solidFill>
              <a:srgbClr val="4CAF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664" y="1402608"/>
            <a:ext cx="5241195" cy="73133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553" y="1524496"/>
            <a:ext cx="4997418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399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CNN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553" y="2133937"/>
            <a:ext cx="49974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333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553" y="2560546"/>
            <a:ext cx="4997418" cy="91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5065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50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553" y="3438141"/>
            <a:ext cx="49974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333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7553" y="4937367"/>
            <a:ext cx="49974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model.evaluate(test_generator)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7553" y="5339598"/>
            <a:ext cx="49974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128×128 images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1965" y="1402608"/>
            <a:ext cx="5241195" cy="4631754"/>
          </a:xfrm>
          <a:prstGeom prst="rect">
            <a:avLst/>
          </a:prstGeom>
          <a:solidFill>
            <a:srgbClr val="1A2535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1965" y="1402608"/>
            <a:ext cx="5241195" cy="73133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03853" y="1524496"/>
            <a:ext cx="4997418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399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ANN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03853" y="2133937"/>
            <a:ext cx="49974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333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03853" y="2560546"/>
            <a:ext cx="4997418" cy="91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5065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50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03853" y="3438141"/>
            <a:ext cx="49974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333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03853" y="3901317"/>
            <a:ext cx="4997418" cy="60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endParaRPr lang="en-US" sz="31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03853" y="4937367"/>
            <a:ext cx="49974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ann_model.evaluate(ann_test_gen)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03853" y="5339598"/>
            <a:ext cx="499741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flattened pixel vectors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363083" y="2926211"/>
            <a:ext cx="1462659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-1" y="6607236"/>
            <a:ext cx="12188825" cy="249871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-1" y="6607236"/>
            <a:ext cx="12188825" cy="243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6  •  Results Summary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4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21977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438658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3657540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487642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09530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640327" y="893"/>
            <a:ext cx="73133" cy="6856214"/>
          </a:xfrm>
          <a:prstGeom prst="rect">
            <a:avLst/>
          </a:prstGeom>
          <a:solidFill>
            <a:srgbClr val="39C46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9441" y="732222"/>
            <a:ext cx="8532178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453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  Transfer Learning</a:t>
            </a:r>
            <a:endParaRPr lang="en-US" sz="45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9441" y="1585440"/>
            <a:ext cx="4875530" cy="731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9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5</a:t>
            </a:r>
            <a:endParaRPr lang="en-US" sz="39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441" y="2292392"/>
            <a:ext cx="9751060" cy="511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2399" b="1" dirty="0">
                <a:solidFill>
                  <a:srgbClr val="3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PlantVillage — ResNet50 Pre-trained Model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441" y="2840889"/>
            <a:ext cx="8532178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Section: Transfer Learning &amp; Fine-Tuning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1930" y="3511275"/>
            <a:ext cx="1487037" cy="402231"/>
          </a:xfrm>
          <a:prstGeom prst="rect">
            <a:avLst/>
          </a:prstGeom>
          <a:solidFill>
            <a:srgbClr val="1B4D2E"/>
          </a:solidFill>
          <a:ln w="1905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1930" y="3511275"/>
            <a:ext cx="1487037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b="1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Architecture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047722" y="3511275"/>
            <a:ext cx="1487037" cy="402231"/>
          </a:xfrm>
          <a:prstGeom prst="rect">
            <a:avLst/>
          </a:prstGeom>
          <a:solidFill>
            <a:srgbClr val="1A3B5C"/>
          </a:solidFill>
          <a:ln w="1905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047722" y="3511275"/>
            <a:ext cx="1487037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b="1" dirty="0">
                <a:solidFill>
                  <a:srgbClr val="4A9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Compile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583514" y="3511275"/>
            <a:ext cx="1487037" cy="402231"/>
          </a:xfrm>
          <a:prstGeom prst="rect">
            <a:avLst/>
          </a:prstGeom>
          <a:solidFill>
            <a:srgbClr val="4D2B1A"/>
          </a:solidFill>
          <a:ln w="1905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583514" y="3511275"/>
            <a:ext cx="1487037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b="1" dirty="0">
                <a:solidFill>
                  <a:srgbClr val="D4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Generators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19306" y="3511275"/>
            <a:ext cx="1487037" cy="402231"/>
          </a:xfrm>
          <a:prstGeom prst="rect">
            <a:avLst/>
          </a:prstGeom>
          <a:solidFill>
            <a:srgbClr val="3B1F5C"/>
          </a:solidFill>
          <a:ln w="1905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19306" y="3511275"/>
            <a:ext cx="1487037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b="1" dirty="0">
                <a:solidFill>
                  <a:srgbClr val="9B6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Callbacks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655098" y="3511275"/>
            <a:ext cx="1487037" cy="402231"/>
          </a:xfrm>
          <a:prstGeom prst="rect">
            <a:avLst/>
          </a:prstGeom>
          <a:solidFill>
            <a:srgbClr val="1A3D4D"/>
          </a:solidFill>
          <a:ln w="1905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55098" y="3511275"/>
            <a:ext cx="1487037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b="1" dirty="0">
                <a:solidFill>
                  <a:srgbClr val="4A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Training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190890" y="3511275"/>
            <a:ext cx="1487037" cy="402231"/>
          </a:xfrm>
          <a:prstGeom prst="rect">
            <a:avLst/>
          </a:prstGeom>
          <a:solidFill>
            <a:srgbClr val="4D3B1A"/>
          </a:solidFill>
          <a:ln w="1905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190890" y="3511275"/>
            <a:ext cx="1487037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b="1" dirty="0">
                <a:solidFill>
                  <a:srgbClr val="D4A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Evaluation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726682" y="3511275"/>
            <a:ext cx="1487037" cy="402231"/>
          </a:xfrm>
          <a:prstGeom prst="rect">
            <a:avLst/>
          </a:prstGeom>
          <a:solidFill>
            <a:srgbClr val="1B4D2E"/>
          </a:solidFill>
          <a:ln w="1905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726682" y="3511275"/>
            <a:ext cx="1487037" cy="402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66" b="1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Comparison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09441" y="6363459"/>
            <a:ext cx="9751060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333" dirty="0">
                <a:solidFill>
                  <a:srgbClr val="4A4F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ResNet50  •  Python / TensorFlow  •  Binary Classification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4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21977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438658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3657540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487642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09530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04720" y="220292"/>
            <a:ext cx="853218" cy="853218"/>
          </a:xfrm>
          <a:prstGeom prst="ellipse">
            <a:avLst/>
          </a:prstGeom>
          <a:solidFill>
            <a:srgbClr val="39C46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4720" y="220292"/>
            <a:ext cx="853218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16392" y="208103"/>
            <a:ext cx="9141619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1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🧱  Build the ResNet50 Model</a:t>
            </a:r>
            <a:endParaRPr lang="en-US" sz="31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16393" y="756600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Frozen base + custom classification head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solidFill>
            <a:srgbClr val="1B4D2E"/>
          </a:solidFill>
          <a:ln w="254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b="1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Architecture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9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Compile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Generators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9B6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Callbacks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Training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A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Evaluation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Comparison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19399" y="1195398"/>
            <a:ext cx="7008574" cy="5094929"/>
          </a:xfrm>
          <a:prstGeom prst="rect">
            <a:avLst/>
          </a:prstGeom>
          <a:solidFill>
            <a:srgbClr val="0D0F14"/>
          </a:solidFill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19398" y="1195398"/>
            <a:ext cx="548497" cy="5094929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31587" y="1195399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8840" y="1195399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image size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1587" y="1438014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28840" y="1438014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img_size   = (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31587" y="1680630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31587" y="1923245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8840" y="1923245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ResNet50 — exclude top classifier layer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31587" y="2165862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28840" y="2165862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base_model = </a:t>
            </a:r>
            <a:r>
              <a:rPr lang="en-US" sz="111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ResNet50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31587" y="2408477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8840" y="2408477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1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'imagenet'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1587" y="2651093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28840" y="2651093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include_top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10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31587" y="2893708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28840" y="2893708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input_shape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=(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31587" y="3136324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28840" y="3136324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31587" y="3378939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31587" y="3621555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28840" y="3621555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Freeze ALL base layers — don't update ImageNet weights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31587" y="3864172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28840" y="3864172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</a:t>
            </a:r>
            <a:r>
              <a:rPr lang="en-US" sz="1110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base_model.layers: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231587" y="4106787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28840" y="4106787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layer.trainable = </a:t>
            </a:r>
            <a:r>
              <a:rPr lang="en-US" sz="1110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231587" y="4349402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231587" y="4592018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28840" y="4592018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custom head on top of ResNet50 output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31587" y="4834633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28840" y="4834633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base_model.output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31587" y="5077249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28840" y="5077249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tf.keras.layers.</a:t>
            </a:r>
            <a:r>
              <a:rPr lang="en-US" sz="111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GlobalAveragePooling2D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()(x)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231587" y="5319864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828840" y="5319864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tf.keras.layers.</a:t>
            </a:r>
            <a:r>
              <a:rPr lang="en-US" sz="111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1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'relu'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)(x)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231587" y="5562481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828840" y="5562481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tf.keras.layers.</a:t>
            </a:r>
            <a:r>
              <a:rPr lang="en-US" sz="111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)(x)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231587" y="5805097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828840" y="5805097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 = tf.keras.layers.</a:t>
            </a:r>
            <a:r>
              <a:rPr lang="en-US" sz="111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1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'sigmoid'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)(x)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231587" y="6047712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828840" y="6047712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resnet_model = </a:t>
            </a:r>
            <a:r>
              <a:rPr lang="en-US" sz="111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=base_model.input,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=predictions)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435183" y="1195398"/>
            <a:ext cx="4570809" cy="2413387"/>
          </a:xfrm>
          <a:prstGeom prst="rect">
            <a:avLst/>
          </a:prstGeom>
          <a:solidFill>
            <a:srgbClr val="1A1D24"/>
          </a:solidFill>
          <a:ln w="254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618015" y="1317286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3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🧊  Frozen Layers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7618015" y="1707329"/>
            <a:ext cx="4327033" cy="177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layer.trainable = False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All ResNet50 conv layers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are FROZEN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ImageNet weights preserved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Only new head is trained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7435183" y="3681918"/>
            <a:ext cx="4570809" cy="2608409"/>
          </a:xfrm>
          <a:prstGeom prst="rect">
            <a:avLst/>
          </a:prstGeom>
          <a:solidFill>
            <a:srgbClr val="1A1D24"/>
          </a:solidFill>
          <a:ln w="254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618015" y="3803806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4A9E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 Custom Head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7618015" y="4193849"/>
            <a:ext cx="4327033" cy="1974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ResNet50 output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GlobalAveragePooling2D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Dense(128, relu)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Dropout(0.5)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 Dense(1, sigmoid)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0 or 1 (binary)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4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21977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438658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3657540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487642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09530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04720" y="220292"/>
            <a:ext cx="853218" cy="853218"/>
          </a:xfrm>
          <a:prstGeom prst="ellipse">
            <a:avLst/>
          </a:prstGeom>
          <a:solidFill>
            <a:srgbClr val="4A9EEF"/>
          </a:solidFill>
          <a:ln w="127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4720" y="220292"/>
            <a:ext cx="853218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16392" y="208103"/>
            <a:ext cx="9141619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1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Compile the Model</a:t>
            </a:r>
            <a:endParaRPr lang="en-US" sz="31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16393" y="756600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Adam optimizer + binary crossentropy + accuracy metric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Architecture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solidFill>
            <a:srgbClr val="1A3B5C"/>
          </a:solidFill>
          <a:ln w="254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b="1" dirty="0">
                <a:solidFill>
                  <a:srgbClr val="4A9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Compile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Generators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9B6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Callbacks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Training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A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Evaluation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Comparison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19399" y="1195398"/>
            <a:ext cx="7008574" cy="5094929"/>
          </a:xfrm>
          <a:prstGeom prst="rect">
            <a:avLst/>
          </a:prstGeom>
          <a:solidFill>
            <a:srgbClr val="0D0F14"/>
          </a:solidFill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19398" y="1195398"/>
            <a:ext cx="548497" cy="5094929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31587" y="1195398"/>
            <a:ext cx="487553" cy="636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9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9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8840" y="1195398"/>
            <a:ext cx="6338189" cy="6368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32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Compile ResNet50 model</a:t>
            </a:r>
            <a:endParaRPr lang="en-US" sz="12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1587" y="1832264"/>
            <a:ext cx="487553" cy="636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9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9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28840" y="1832264"/>
            <a:ext cx="6338189" cy="6368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resnet_model.</a:t>
            </a:r>
            <a:r>
              <a:rPr lang="en-US" sz="1232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31587" y="2469130"/>
            <a:ext cx="487553" cy="636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9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9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8840" y="2469130"/>
            <a:ext cx="6338189" cy="6368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3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</a:t>
            </a:r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32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'adam'</a:t>
            </a:r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31587" y="3105996"/>
            <a:ext cx="487553" cy="636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9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9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8840" y="3105996"/>
            <a:ext cx="6338189" cy="6368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3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</a:t>
            </a:r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32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'binary_crossentropy'</a:t>
            </a:r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31587" y="3742862"/>
            <a:ext cx="487553" cy="636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9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9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28840" y="3742862"/>
            <a:ext cx="6338189" cy="6368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3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r>
              <a:rPr lang="en-US" sz="1232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'accuracy'</a:t>
            </a:r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31587" y="4379728"/>
            <a:ext cx="487553" cy="636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9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09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28840" y="4379728"/>
            <a:ext cx="6338189" cy="6368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31587" y="5016595"/>
            <a:ext cx="487553" cy="636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9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9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31587" y="5653461"/>
            <a:ext cx="487553" cy="636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9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09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28840" y="5653461"/>
            <a:ext cx="6338189" cy="6368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resnet_model.</a:t>
            </a:r>
            <a:r>
              <a:rPr lang="en-US" sz="1232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r>
              <a:rPr lang="en-US" sz="123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3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435183" y="1195398"/>
            <a:ext cx="4570809" cy="1889268"/>
          </a:xfrm>
          <a:prstGeom prst="rect">
            <a:avLst/>
          </a:prstGeom>
          <a:solidFill>
            <a:srgbClr val="1A1D24"/>
          </a:solidFill>
          <a:ln w="254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618015" y="1317286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4A9E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Compile Settings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618015" y="1707328"/>
            <a:ext cx="4327033" cy="125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 : Adam (adaptive LR)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     : binary_crossentropy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   : accuracy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 adapts LR per parameter.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for deep networks.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435183" y="3169987"/>
            <a:ext cx="4570809" cy="1889268"/>
          </a:xfrm>
          <a:prstGeom prst="rect">
            <a:avLst/>
          </a:prstGeom>
          <a:solidFill>
            <a:srgbClr val="1A1D24"/>
          </a:solidFill>
          <a:ln w="254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618015" y="3291876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3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summary()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618015" y="3681918"/>
            <a:ext cx="4327033" cy="125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 the full model layers,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shapes, and parameter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for each layer.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Helps verify architecture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training starts.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435183" y="5144577"/>
            <a:ext cx="4570809" cy="1096994"/>
          </a:xfrm>
          <a:prstGeom prst="rect">
            <a:avLst/>
          </a:prstGeom>
          <a:solidFill>
            <a:srgbClr val="1A1D24"/>
          </a:solidFill>
          <a:ln w="254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618015" y="5266465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9B6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  Binary Cross-Entropy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618015" y="5656508"/>
            <a:ext cx="4327033" cy="463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for 0/1 output (sigmoid).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Penalizes wrong-confidence.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4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21977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438658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3657540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487642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09530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04720" y="220292"/>
            <a:ext cx="853218" cy="853218"/>
          </a:xfrm>
          <a:prstGeom prst="ellipse">
            <a:avLst/>
          </a:prstGeom>
          <a:solidFill>
            <a:srgbClr val="D4704A"/>
          </a:solidFill>
          <a:ln w="127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4720" y="220292"/>
            <a:ext cx="853218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16392" y="208103"/>
            <a:ext cx="9141619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1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Create Generators</a:t>
            </a:r>
            <a:endParaRPr lang="en-US" sz="31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16393" y="756600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ResNet-specific preprocessing — preprocess_input replaces rescale=1./255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Architecture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9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Compile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solidFill>
            <a:srgbClr val="4D2B1A"/>
          </a:solidFill>
          <a:ln w="254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b="1" dirty="0">
                <a:solidFill>
                  <a:srgbClr val="D4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Generators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9B6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Callbacks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Training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A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Evaluation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Comparison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19399" y="1195398"/>
            <a:ext cx="7008574" cy="5094929"/>
          </a:xfrm>
          <a:prstGeom prst="rect">
            <a:avLst/>
          </a:prstGeom>
          <a:solidFill>
            <a:srgbClr val="0D0F14"/>
          </a:solidFill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19398" y="1195398"/>
            <a:ext cx="548497" cy="5094929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31587" y="1195398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8840" y="1195398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 ResNet preprocessing function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1587" y="1450145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28840" y="1450145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tensorflow.keras.applications.resnet50 </a:t>
            </a:r>
            <a:r>
              <a:rPr lang="en-US" sz="1120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2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preprocess_input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31587" y="1704890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31587" y="1959637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8840" y="1959637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ResNet generators — NO rescale, use preprocessing_function instead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31587" y="2214383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28840" y="2214383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resnet_train_datagen = </a:t>
            </a:r>
            <a:r>
              <a:rPr lang="en-US" sz="112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ImageDataGenerator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31587" y="2469130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8840" y="2469130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2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preprocessing_function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=preprocess_input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1587" y="2723877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28840" y="2723877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31587" y="2978623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28840" y="2978623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resnet_val_datagen = </a:t>
            </a:r>
            <a:r>
              <a:rPr lang="en-US" sz="112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ImageDataGenerator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31587" y="3233370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28840" y="3233370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2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preprocessing_function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=preprocess_input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31587" y="3488115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28840" y="3488115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231587" y="3742862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31587" y="3997609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28840" y="3997609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resnet_train_gen = resnet_train_datagen.</a:t>
            </a:r>
            <a:r>
              <a:rPr lang="en-US" sz="112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flow_from_dataframe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231587" y="4252355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28840" y="4252355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2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train_df,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231587" y="4507102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28840" y="4507102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2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x_col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</a:t>
            </a:r>
            <a:r>
              <a:rPr lang="en-US" sz="112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'image_path'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31587" y="4761847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28840" y="4761847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2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y_col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</a:t>
            </a:r>
            <a:r>
              <a:rPr lang="en-US" sz="112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'label'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231587" y="5016594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28840" y="5016594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2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target_size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IMG_SIZE,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231587" y="5271341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28840" y="5271341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2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BATCH_SIZE,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31587" y="5526087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828840" y="5526087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2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class_mode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r>
              <a:rPr lang="en-US" sz="112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'binary'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231587" y="5780834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828840" y="5780834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2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</a:t>
            </a:r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</a:t>
            </a:r>
            <a:r>
              <a:rPr lang="en-US" sz="1120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231587" y="6035580"/>
            <a:ext cx="487553" cy="254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86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8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828840" y="6035580"/>
            <a:ext cx="6338189" cy="254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7435183" y="1195398"/>
            <a:ext cx="4570809" cy="2681542"/>
          </a:xfrm>
          <a:prstGeom prst="rect">
            <a:avLst/>
          </a:prstGeom>
          <a:solidFill>
            <a:srgbClr val="1A1D24"/>
          </a:solidFill>
          <a:ln w="254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7618015" y="1317286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D47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preprocess_input vs rescale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618015" y="1707328"/>
            <a:ext cx="4327033" cy="204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ResNet50 was trained with its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 normalization (not 0–1).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preprocess_input subtracts the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ImageNet channel means &amp;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scales to [-1, 1] range.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rescale=1./255 BREAKS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model's expectations!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7435183" y="3950072"/>
            <a:ext cx="4570809" cy="2291499"/>
          </a:xfrm>
          <a:prstGeom prst="rect">
            <a:avLst/>
          </a:prstGeom>
          <a:solidFill>
            <a:srgbClr val="1A1D24"/>
          </a:solidFill>
          <a:ln w="254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7618015" y="4071960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3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 Parameters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618015" y="4462003"/>
            <a:ext cx="4327033" cy="165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   → train_df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x_col       → 'image_path'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y_col       → 'label'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target_size → (128,128)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  → 32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class_mode  → 'binary'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     → True (train only)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4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21977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438658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3657540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487642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09530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04720" y="220292"/>
            <a:ext cx="853218" cy="853218"/>
          </a:xfrm>
          <a:prstGeom prst="ellipse">
            <a:avLst/>
          </a:prstGeom>
          <a:solidFill>
            <a:srgbClr val="D4704A"/>
          </a:solidFill>
          <a:ln w="127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4720" y="220292"/>
            <a:ext cx="853218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16392" y="208103"/>
            <a:ext cx="9141619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1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Create Generators</a:t>
            </a:r>
            <a:endParaRPr lang="en-US" sz="31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16393" y="756600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and Test generators — shuffle=False for correct evaluation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Architecture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9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Compile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solidFill>
            <a:srgbClr val="4D2B1A"/>
          </a:solidFill>
          <a:ln w="254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b="1" dirty="0">
                <a:solidFill>
                  <a:srgbClr val="D4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Generators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9B6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Callbacks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Training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A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Evaluation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Comparison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19399" y="1195398"/>
            <a:ext cx="7008574" cy="5094929"/>
          </a:xfrm>
          <a:prstGeom prst="rect">
            <a:avLst/>
          </a:prstGeom>
          <a:solidFill>
            <a:srgbClr val="0D0F14"/>
          </a:solidFill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19398" y="1195398"/>
            <a:ext cx="548497" cy="5094929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31587" y="1195399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8840" y="1195399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resnet_val_gen = resnet_val_datagen.</a:t>
            </a:r>
            <a:r>
              <a:rPr lang="en-US" sz="111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flow_from_dataframe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1587" y="1438014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28840" y="1438014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val_df,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31587" y="1680630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8840" y="1680630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x_col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</a:t>
            </a:r>
            <a:r>
              <a:rPr lang="en-US" sz="111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'image_path'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31587" y="1923245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8840" y="1923245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y_col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</a:t>
            </a:r>
            <a:r>
              <a:rPr lang="en-US" sz="111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'label'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31587" y="2165862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28840" y="2165862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target_size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31587" y="2408477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28840" y="2408477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31587" y="2651093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28840" y="2651093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class_mode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r>
              <a:rPr lang="en-US" sz="111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'binary'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31587" y="2893708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8840" y="2893708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</a:t>
            </a:r>
            <a:r>
              <a:rPr lang="en-US" sz="1110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231587" y="3136324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28840" y="3136324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31587" y="3378939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231587" y="3621555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28840" y="3621555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resnet_test_gen = resnet_test_datagen.</a:t>
            </a:r>
            <a:r>
              <a:rPr lang="en-US" sz="111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flow_from_dataframe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231587" y="3864172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28840" y="3864172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test_df,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31587" y="4106787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28840" y="4106787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x_col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</a:t>
            </a:r>
            <a:r>
              <a:rPr lang="en-US" sz="111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'image_path'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231587" y="4349402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28840" y="4349402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y_col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</a:t>
            </a:r>
            <a:r>
              <a:rPr lang="en-US" sz="111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'label'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31587" y="4592018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28840" y="4592018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target_size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31587" y="4834633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28840" y="4834633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r>
              <a:rPr lang="en-US" sz="111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231587" y="5077249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828840" y="5077249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class_mode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</a:t>
            </a:r>
            <a:r>
              <a:rPr lang="en-US" sz="111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'binary'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231587" y="5319864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828840" y="5319864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10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</a:t>
            </a:r>
            <a:r>
              <a:rPr lang="en-US" sz="1110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231587" y="5562481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828840" y="5562481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231587" y="5805097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31587" y="6047712"/>
            <a:ext cx="487553" cy="24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77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97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828840" y="6047712"/>
            <a:ext cx="6338189" cy="242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10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10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'Generators ready ✓'</a:t>
            </a:r>
            <a:r>
              <a:rPr lang="en-US" sz="111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1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7435183" y="1195398"/>
            <a:ext cx="4570809" cy="2291499"/>
          </a:xfrm>
          <a:prstGeom prst="rect">
            <a:avLst/>
          </a:prstGeom>
          <a:solidFill>
            <a:srgbClr val="1A1D24"/>
          </a:solidFill>
          <a:ln w="254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7618015" y="1317286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D47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Why shuffle=False?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7618015" y="1707329"/>
            <a:ext cx="4327033" cy="165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&amp; Test generators must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shuffle.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order must match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y_true order for confusion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&amp; report to be correct.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435183" y="3572219"/>
            <a:ext cx="4570809" cy="2669353"/>
          </a:xfrm>
          <a:prstGeom prst="rect">
            <a:avLst/>
          </a:prstGeom>
          <a:solidFill>
            <a:srgbClr val="1A1D24"/>
          </a:solidFill>
          <a:ln w="254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7618015" y="3694107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4A9E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Generator Output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7618015" y="4084149"/>
            <a:ext cx="4327033" cy="20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resnet_train_gen → train batches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resnet_val_gen   → val batches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resnet_test_gen  → test batches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generators: 128×128×3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preprocessed via preprocess_input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(not rescaled to [0,1])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4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21977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438658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3657540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487642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09530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04720" y="220292"/>
            <a:ext cx="853218" cy="853218"/>
          </a:xfrm>
          <a:prstGeom prst="ellipse">
            <a:avLst/>
          </a:prstGeom>
          <a:solidFill>
            <a:srgbClr val="9B6BE0"/>
          </a:solidFill>
          <a:ln w="127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4720" y="220292"/>
            <a:ext cx="853218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16392" y="208103"/>
            <a:ext cx="9141619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1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Callbacks</a:t>
            </a:r>
            <a:endParaRPr lang="en-US" sz="31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16393" y="756600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EarlyStopping + ReduceLROnPlateau + ModelCheckpoint — prevent overfitting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Architecture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9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Compile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Generators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solidFill>
            <a:srgbClr val="3B1F5C"/>
          </a:solidFill>
          <a:ln w="254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b="1" dirty="0">
                <a:solidFill>
                  <a:srgbClr val="9B6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Callbacks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Training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A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Evaluation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Comparison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19399" y="1195398"/>
            <a:ext cx="7008574" cy="5094929"/>
          </a:xfrm>
          <a:prstGeom prst="rect">
            <a:avLst/>
          </a:prstGeom>
          <a:solidFill>
            <a:srgbClr val="0D0F14"/>
          </a:solidFill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19398" y="1195398"/>
            <a:ext cx="548497" cy="5094929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31587" y="1195398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8840" y="1195398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tensorflow.keras.callbacks </a:t>
            </a:r>
            <a:r>
              <a:rPr lang="en-US" sz="1092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1587" y="1416916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28840" y="1416916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ModelCheckpoint, EarlyStopping, ReduceLROnPlateau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31587" y="1638436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31587" y="1859954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8840" y="1859954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resnet_checkpoint = </a:t>
            </a:r>
            <a:r>
              <a:rPr lang="en-US" sz="1092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ModelCheckpoint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31587" y="2081472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28840" y="2081472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92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'best_resnet50_model.h5'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31587" y="2302991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8840" y="2302991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= </a:t>
            </a:r>
            <a:r>
              <a:rPr lang="en-US" sz="1092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'val_accuracy'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1587" y="2524510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28840" y="2524510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save_best_only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</a:t>
            </a:r>
            <a:r>
              <a:rPr lang="en-US" sz="1092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31587" y="2746029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28840" y="2746029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= </a:t>
            </a:r>
            <a:r>
              <a:rPr lang="en-US" sz="1092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31587" y="2967547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28840" y="2967547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31587" y="3189065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31587" y="3410585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28840" y="3410585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resnet_callbacks = [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31587" y="3632103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28840" y="3632103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resnet_checkpoint,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231587" y="3853622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28840" y="3853622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92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EarlyStopping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231587" y="4075140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28840" y="4075140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=</a:t>
            </a:r>
            <a:r>
              <a:rPr lang="en-US" sz="1092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'val_accuracy'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31587" y="4296659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28840" y="4296659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patience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=</a:t>
            </a:r>
            <a:r>
              <a:rPr lang="en-US" sz="1092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231587" y="4518178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28840" y="4518178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restore_best_weights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r>
              <a:rPr lang="en-US" sz="1092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92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231587" y="4739696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28840" y="4739696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31587" y="4961214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828840" y="4961214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92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ReduceLROnPlateau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231587" y="5182734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828840" y="5182734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92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'val_loss'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92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231587" y="5404252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828840" y="5404252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patience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92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     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min_lr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92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1e-6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92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92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31587" y="5625771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828840" y="5625771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231587" y="5847289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828840" y="5847289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231587" y="6068809"/>
            <a:ext cx="487553" cy="22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5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5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828840" y="6068809"/>
            <a:ext cx="6338189" cy="221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092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92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'Callbacks ready ✓'</a:t>
            </a:r>
            <a:r>
              <a:rPr lang="en-US" sz="1092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7435183" y="1195398"/>
            <a:ext cx="4570809" cy="1730813"/>
          </a:xfrm>
          <a:prstGeom prst="rect">
            <a:avLst/>
          </a:prstGeom>
          <a:solidFill>
            <a:srgbClr val="1A1D24"/>
          </a:solidFill>
          <a:ln w="254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7618015" y="1317286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4A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🛑  EarlyStopping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7618015" y="1707329"/>
            <a:ext cx="4327033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: val_accuracy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patience : 5 epochs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restore_best_weights : True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Stops if no improvement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Reverts to best weights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7435183" y="2999344"/>
            <a:ext cx="4570809" cy="1730813"/>
          </a:xfrm>
          <a:prstGeom prst="rect">
            <a:avLst/>
          </a:prstGeom>
          <a:solidFill>
            <a:srgbClr val="1A1D24"/>
          </a:solidFill>
          <a:ln w="254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7618015" y="3121232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D4A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📉  ReduceLROnPlateau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7618015" y="3511275"/>
            <a:ext cx="4327033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: val_loss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 : 0.5  (halves LR)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patience: 3 epochs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min_lr  : 1e-6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Cuts LR when loss stalls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7435183" y="4803290"/>
            <a:ext cx="4570809" cy="1438281"/>
          </a:xfrm>
          <a:prstGeom prst="rect">
            <a:avLst/>
          </a:prstGeom>
          <a:solidFill>
            <a:srgbClr val="1A1D24"/>
          </a:solidFill>
          <a:ln w="254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7618015" y="4925178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3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  ModelCheckpoint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7618015" y="5315221"/>
            <a:ext cx="4327033" cy="80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saves: 'best_resnet50_model.h5'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monitor: val_accuracy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save_best_only: True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Keeps only best epoch on disk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4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21977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438658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3657540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487642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09530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04720" y="220292"/>
            <a:ext cx="853218" cy="853218"/>
          </a:xfrm>
          <a:prstGeom prst="ellipse">
            <a:avLst/>
          </a:prstGeom>
          <a:solidFill>
            <a:srgbClr val="4ABCD4"/>
          </a:solidFill>
          <a:ln w="127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4720" y="220292"/>
            <a:ext cx="853218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16392" y="208103"/>
            <a:ext cx="9141619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1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Train the ResNet50</a:t>
            </a:r>
            <a:endParaRPr lang="en-US" sz="31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16393" y="756600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model.fit() — feeds batches from generator for up to 10 epochs with callbacks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Architecture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9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Compile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Generators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9B6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Callbacks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solidFill>
            <a:srgbClr val="1A3D4D"/>
          </a:solidFill>
          <a:ln w="254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b="1" dirty="0">
                <a:solidFill>
                  <a:srgbClr val="4A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Training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A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Evaluation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Comparison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19399" y="1195398"/>
            <a:ext cx="7008574" cy="2315877"/>
          </a:xfrm>
          <a:prstGeom prst="rect">
            <a:avLst/>
          </a:prstGeom>
          <a:solidFill>
            <a:srgbClr val="0D0F14"/>
          </a:solidFill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19398" y="1195398"/>
            <a:ext cx="548497" cy="2315877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31587" y="1195398"/>
            <a:ext cx="487553" cy="3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00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8840" y="1195398"/>
            <a:ext cx="6338189" cy="385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6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history_resnet = resnet_model.</a:t>
            </a:r>
            <a:r>
              <a:rPr lang="en-US" sz="1266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r>
              <a:rPr lang="en-US" sz="126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1587" y="1581378"/>
            <a:ext cx="487553" cy="3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00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28840" y="1581378"/>
            <a:ext cx="6338189" cy="385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6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resnet_train_gen,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31587" y="1967357"/>
            <a:ext cx="487553" cy="3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00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8840" y="1967357"/>
            <a:ext cx="6338189" cy="385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6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66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validation_data</a:t>
            </a:r>
            <a:r>
              <a:rPr lang="en-US" sz="126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resnet_val_gen,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31587" y="2353336"/>
            <a:ext cx="487553" cy="3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00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8840" y="2353336"/>
            <a:ext cx="6338189" cy="385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6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66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r>
              <a:rPr lang="en-US" sz="126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= </a:t>
            </a:r>
            <a:r>
              <a:rPr lang="en-US" sz="1266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6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31587" y="2739316"/>
            <a:ext cx="487553" cy="3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00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28840" y="2739316"/>
            <a:ext cx="6338189" cy="385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6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66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callbacks</a:t>
            </a:r>
            <a:r>
              <a:rPr lang="en-US" sz="126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= resnet_callbacks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31587" y="3125295"/>
            <a:ext cx="487553" cy="38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200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28840" y="3125295"/>
            <a:ext cx="6338189" cy="3859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266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19399" y="3669729"/>
            <a:ext cx="7008574" cy="426609"/>
          </a:xfrm>
          <a:prstGeom prst="rect">
            <a:avLst/>
          </a:prstGeom>
          <a:solidFill>
            <a:srgbClr val="1A1D24"/>
          </a:solidFill>
          <a:ln w="254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19398" y="3669729"/>
            <a:ext cx="97511" cy="426609"/>
          </a:xfrm>
          <a:prstGeom prst="rect">
            <a:avLst/>
          </a:prstGeom>
          <a:solidFill>
            <a:srgbClr val="39C46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26608" y="3669729"/>
            <a:ext cx="6764798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Epoch starts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19399" y="4120716"/>
            <a:ext cx="7008574" cy="426609"/>
          </a:xfrm>
          <a:prstGeom prst="rect">
            <a:avLst/>
          </a:prstGeom>
          <a:solidFill>
            <a:srgbClr val="1A1D24"/>
          </a:solidFill>
          <a:ln w="254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19398" y="4120716"/>
            <a:ext cx="97511" cy="426609"/>
          </a:xfrm>
          <a:prstGeom prst="rect">
            <a:avLst/>
          </a:prstGeom>
          <a:solidFill>
            <a:srgbClr val="4A9EEF"/>
          </a:solidFill>
          <a:ln w="127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26608" y="4120716"/>
            <a:ext cx="6764798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Batch from resnet_train_gen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19399" y="4571702"/>
            <a:ext cx="7008574" cy="426609"/>
          </a:xfrm>
          <a:prstGeom prst="rect">
            <a:avLst/>
          </a:prstGeom>
          <a:solidFill>
            <a:srgbClr val="1A1D24"/>
          </a:solidFill>
          <a:ln w="254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19398" y="4571702"/>
            <a:ext cx="97511" cy="426609"/>
          </a:xfrm>
          <a:prstGeom prst="rect">
            <a:avLst/>
          </a:prstGeom>
          <a:solidFill>
            <a:srgbClr val="D4704A"/>
          </a:solidFill>
          <a:ln w="127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26608" y="4571702"/>
            <a:ext cx="6764798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Forward pass → compute loss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219399" y="5022689"/>
            <a:ext cx="7008574" cy="426609"/>
          </a:xfrm>
          <a:prstGeom prst="rect">
            <a:avLst/>
          </a:prstGeom>
          <a:solidFill>
            <a:srgbClr val="1A1D24"/>
          </a:solidFill>
          <a:ln w="254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219398" y="5022689"/>
            <a:ext cx="97511" cy="426609"/>
          </a:xfrm>
          <a:prstGeom prst="rect">
            <a:avLst/>
          </a:prstGeom>
          <a:solidFill>
            <a:srgbClr val="9B6BE0"/>
          </a:solidFill>
          <a:ln w="127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26608" y="5022689"/>
            <a:ext cx="6764798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Backpropagation → update head weights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219399" y="5473675"/>
            <a:ext cx="7008574" cy="426609"/>
          </a:xfrm>
          <a:prstGeom prst="rect">
            <a:avLst/>
          </a:prstGeom>
          <a:solidFill>
            <a:srgbClr val="1A1D24"/>
          </a:solidFill>
          <a:ln w="254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219398" y="5473675"/>
            <a:ext cx="97511" cy="426609"/>
          </a:xfrm>
          <a:prstGeom prst="rect">
            <a:avLst/>
          </a:prstGeom>
          <a:solidFill>
            <a:srgbClr val="4ABCD4"/>
          </a:solidFill>
          <a:ln w="127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26608" y="5473675"/>
            <a:ext cx="6764798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Validate on resnet_val_gen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219399" y="5924662"/>
            <a:ext cx="7008574" cy="426609"/>
          </a:xfrm>
          <a:prstGeom prst="rect">
            <a:avLst/>
          </a:prstGeom>
          <a:solidFill>
            <a:srgbClr val="1A1D24"/>
          </a:solidFill>
          <a:ln w="254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219398" y="5924662"/>
            <a:ext cx="97511" cy="426609"/>
          </a:xfrm>
          <a:prstGeom prst="rect">
            <a:avLst/>
          </a:prstGeom>
          <a:solidFill>
            <a:srgbClr val="D4A44A"/>
          </a:solidFill>
          <a:ln w="127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426608" y="5924662"/>
            <a:ext cx="6764798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Callbacks check → save / stop / reduce LR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219399" y="6375648"/>
            <a:ext cx="7008574" cy="426609"/>
          </a:xfrm>
          <a:prstGeom prst="rect">
            <a:avLst/>
          </a:prstGeom>
          <a:solidFill>
            <a:srgbClr val="1A1D24"/>
          </a:solidFill>
          <a:ln w="254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19398" y="6375648"/>
            <a:ext cx="97511" cy="426609"/>
          </a:xfrm>
          <a:prstGeom prst="rect">
            <a:avLst/>
          </a:prstGeom>
          <a:solidFill>
            <a:srgbClr val="39C46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426608" y="6375648"/>
            <a:ext cx="6764798" cy="426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00" dirty="0">
                <a:solidFill>
                  <a:srgbClr val="D4D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Next epoch or early stop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7435183" y="1195398"/>
            <a:ext cx="4570809" cy="2291499"/>
          </a:xfrm>
          <a:prstGeom prst="rect">
            <a:avLst/>
          </a:prstGeom>
          <a:solidFill>
            <a:srgbClr val="1A1D24"/>
          </a:solidFill>
          <a:ln w="254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618015" y="1317286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4A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fit() Parameters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618015" y="1707329"/>
            <a:ext cx="4327033" cy="165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resnet_train_gen  → train generator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validation_data   → resnet_val_gen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            → 10 (max rounds)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callbacks         → resnet_callbacks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Returns: History object with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accuracy, val_accuracy, loss, val_loss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435183" y="3572219"/>
            <a:ext cx="4570809" cy="2669353"/>
          </a:xfrm>
          <a:prstGeom prst="rect">
            <a:avLst/>
          </a:prstGeom>
          <a:solidFill>
            <a:srgbClr val="1A1D24"/>
          </a:solidFill>
          <a:ln w="254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7618015" y="3694107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3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History Object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618015" y="4084149"/>
            <a:ext cx="4327033" cy="20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history_resnet.history keys: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'accuracy'     train acc per epoch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'val_accuracy' val acc per epoch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'loss'         train loss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'val_loss'     validation loss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to plot training curves.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4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21977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438658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3657540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487642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09530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04720" y="220292"/>
            <a:ext cx="853218" cy="853218"/>
          </a:xfrm>
          <a:prstGeom prst="ellipse">
            <a:avLst/>
          </a:prstGeom>
          <a:solidFill>
            <a:srgbClr val="D4A44A"/>
          </a:solidFill>
          <a:ln w="127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4720" y="220292"/>
            <a:ext cx="853218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16392" y="208103"/>
            <a:ext cx="9141619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1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Plot Training History</a:t>
            </a:r>
            <a:endParaRPr lang="en-US" sz="31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16393" y="756600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Accuracy and Loss curves — diagnose overfitting/underfitting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Architecture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9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Compile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Generators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9B6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Callbacks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Training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solidFill>
            <a:srgbClr val="4D3B1A"/>
          </a:solidFill>
          <a:ln w="254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b="1" dirty="0">
                <a:solidFill>
                  <a:srgbClr val="D4A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Evaluation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Comparison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19399" y="1195398"/>
            <a:ext cx="7008574" cy="5094929"/>
          </a:xfrm>
          <a:prstGeom prst="rect">
            <a:avLst/>
          </a:prstGeom>
          <a:solidFill>
            <a:srgbClr val="0D0F14"/>
          </a:solidFill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19398" y="1195398"/>
            <a:ext cx="548497" cy="5094929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31587" y="1195398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8840" y="1195398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matplotlib.pyplot </a:t>
            </a:r>
            <a:r>
              <a:rPr lang="en-US" sz="1101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1587" y="1426985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31587" y="1658573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28840" y="1658573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figure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1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figsize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=(</a:t>
            </a:r>
            <a:r>
              <a:rPr lang="en-US" sz="110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31587" y="1890161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31587" y="2121748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8840" y="2121748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Accuracy subplot ---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31587" y="2353336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28840" y="2353336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subplot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31587" y="2584924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28840" y="2584924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(history_resnet.history[</a:t>
            </a:r>
            <a:r>
              <a:rPr lang="en-US" sz="1101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'accuracy'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   </a:t>
            </a:r>
            <a:r>
              <a:rPr lang="en-US" sz="1101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1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'Train Accuracy'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31587" y="2816511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28840" y="2816511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(history_resnet.history[</a:t>
            </a:r>
            <a:r>
              <a:rPr lang="en-US" sz="1101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'val_accuracy'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r>
              <a:rPr lang="en-US" sz="1101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1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 Accuracy'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31587" y="3048099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8840" y="3048099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1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'ResNet50 Accuracy'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231587" y="3279687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28840" y="3279687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31587" y="3511274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28840" y="3511274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1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31587" y="3742862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231587" y="3974450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28840" y="3974450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Loss subplot ---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31587" y="4206037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28840" y="4206037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subplot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1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231587" y="4437625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28840" y="4437625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(history_resnet.history[</a:t>
            </a:r>
            <a:r>
              <a:rPr lang="en-US" sz="1101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'loss'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    </a:t>
            </a:r>
            <a:r>
              <a:rPr lang="en-US" sz="1101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1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'Train Loss'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31587" y="4669213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28840" y="4669213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(history_resnet.history[</a:t>
            </a:r>
            <a:r>
              <a:rPr lang="en-US" sz="1101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'val_loss'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 </a:t>
            </a:r>
            <a:r>
              <a:rPr lang="en-US" sz="1101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1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 Loss'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31587" y="4900800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28840" y="4900800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1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'ResNet50 Loss'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231587" y="5132388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828840" y="5132388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231587" y="5363976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828840" y="5363976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1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231587" y="5595563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231587" y="5827151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828840" y="5827151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tight_layout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231587" y="6058739"/>
            <a:ext cx="487553" cy="23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968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6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828840" y="6058739"/>
            <a:ext cx="6338189" cy="231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</a:t>
            </a:r>
            <a:r>
              <a:rPr lang="en-US" sz="1101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r>
              <a:rPr lang="en-US" sz="1101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7435183" y="1195398"/>
            <a:ext cx="4570809" cy="2291499"/>
          </a:xfrm>
          <a:prstGeom prst="rect">
            <a:avLst/>
          </a:prstGeom>
          <a:solidFill>
            <a:srgbClr val="1A1D24"/>
          </a:solidFill>
          <a:ln w="254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7618015" y="1317286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D4A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Accuracy Plot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7618015" y="1707329"/>
            <a:ext cx="4327033" cy="165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X-axis : Epoch number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Y-axis : Accuracy (0 → 1)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 : solid line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   : dashed line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Gap = overfitting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Both rising = learning well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7435183" y="3572218"/>
            <a:ext cx="4570809" cy="2047723"/>
          </a:xfrm>
          <a:prstGeom prst="rect">
            <a:avLst/>
          </a:prstGeom>
          <a:solidFill>
            <a:srgbClr val="1A1D24"/>
          </a:solidFill>
          <a:ln w="254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7618015" y="3694107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D47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📉  Loss Plot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7618015" y="4084149"/>
            <a:ext cx="4327033" cy="141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X-axis : Epoch number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Y-axis : Binary cross-entropy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 : decreasing = learning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   : should track train loss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Val rising = overfitting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7435183" y="5693074"/>
            <a:ext cx="4570809" cy="548497"/>
          </a:xfrm>
          <a:prstGeom prst="rect">
            <a:avLst/>
          </a:prstGeom>
          <a:solidFill>
            <a:srgbClr val="1A1D24"/>
          </a:solidFill>
          <a:ln w="254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7618015" y="5814962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3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plt.subplots(1, 2)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7618015" y="6205005"/>
            <a:ext cx="432703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row × 2 col   figsize=(14,5)   axes[0]=acc  axes[1]=loss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5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23603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7206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0809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4412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8015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1618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665221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188824" y="893"/>
            <a:ext cx="12189" cy="6856214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89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-1" y="121977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-1" y="2438658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-1" y="3657540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-1" y="4876423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" y="6095305"/>
            <a:ext cx="12188825" cy="12189"/>
          </a:xfrm>
          <a:prstGeom prst="rect">
            <a:avLst/>
          </a:prstGeom>
          <a:solidFill>
            <a:srgbClr val="1E2028"/>
          </a:solidFill>
          <a:ln w="12700">
            <a:solidFill>
              <a:srgbClr val="1E20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04720" y="220292"/>
            <a:ext cx="853218" cy="853218"/>
          </a:xfrm>
          <a:prstGeom prst="ellipse">
            <a:avLst/>
          </a:prstGeom>
          <a:solidFill>
            <a:srgbClr val="39C46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4720" y="220292"/>
            <a:ext cx="853218" cy="85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16392" y="208103"/>
            <a:ext cx="9141619" cy="548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319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🧪  Evaluate &amp; Compare All Models</a:t>
            </a:r>
            <a:endParaRPr lang="en-US" sz="31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16393" y="756600"/>
            <a:ext cx="10360501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466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Loss, Accuracy + side-by-side table: CNN vs ANN vs ResNet50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2402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Architecture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139138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9E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Compile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70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735874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7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Generators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9B6BE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32611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9B6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Callbacks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4ABCD4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29347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4A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Training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solidFill>
            <a:srgbClr val="13151A"/>
          </a:solidFill>
          <a:ln w="127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26083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dirty="0">
                <a:solidFill>
                  <a:srgbClr val="D4A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Evaluation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solidFill>
            <a:srgbClr val="1B4D2E"/>
          </a:solidFill>
          <a:ln w="254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122819" y="6387837"/>
            <a:ext cx="1523603" cy="341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895"/>
            <a:r>
              <a:rPr lang="en-US" sz="1000" b="1" dirty="0">
                <a:solidFill>
                  <a:srgbClr val="3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Comparison</a:t>
            </a:r>
            <a:endParaRPr lang="en-US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19399" y="1195398"/>
            <a:ext cx="7008574" cy="5094929"/>
          </a:xfrm>
          <a:prstGeom prst="rect">
            <a:avLst/>
          </a:prstGeom>
          <a:solidFill>
            <a:srgbClr val="0D0F14"/>
          </a:solidFill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19398" y="1195398"/>
            <a:ext cx="548497" cy="5094929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31587" y="1195399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8840" y="1195399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i="1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Evaluate each model on test set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1587" y="1513832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28840" y="1513832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31587" y="1832265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8840" y="1832265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cnn_loss,    cnn_acc    = model.</a:t>
            </a:r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(test_generator,   </a:t>
            </a:r>
            <a:r>
              <a:rPr lang="en-US" sz="1157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7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31587" y="2150698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28840" y="2150698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ann_loss,    ann_acc    = ann_model.</a:t>
            </a:r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(ann_test_gen,    </a:t>
            </a:r>
            <a:r>
              <a:rPr lang="en-US" sz="1157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7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31587" y="2469131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28840" y="2469131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resnet_loss, resnet_acc = resnet_model.</a:t>
            </a:r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(resnet_test_gen, </a:t>
            </a:r>
            <a:r>
              <a:rPr lang="en-US" sz="1157" dirty="0">
                <a:solidFill>
                  <a:srgbClr val="56D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verbose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7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31587" y="2787564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31587" y="3105997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28840" y="3105997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7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'\n' + '='*45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31587" y="3424430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28840" y="3424430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157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"{'Model Type':&lt;20} | {'Loss':&lt;10} | {'Accuracy':&lt;10}"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31587" y="3742863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28840" y="3742863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7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'-'*45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31587" y="4061296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28840" y="4061296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157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"{'CNN Custom':&lt;20} | {cnn_loss:&lt;10.4f} | {cnn_acc:&lt;10.4f}"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231587" y="4379729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28840" y="4379729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157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"{'ANN Basic':&lt;20} | {ann_loss:&lt;10.4f} | {ann_acc:&lt;10.4f}"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231587" y="4698162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28840" y="4698162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157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"{'ResNet50 (TL)':&lt;20} | {resnet_loss:&lt;10.4f} | {resnet_acc:&lt;10.4f}"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31587" y="5016595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28840" y="5016595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7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'='*45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231587" y="5335028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31587" y="5653461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28840" y="5653461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F975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</a:t>
            </a:r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e: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231587" y="5971894"/>
            <a:ext cx="487553" cy="318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895"/>
            <a:r>
              <a:rPr lang="en-US" sz="1024" dirty="0">
                <a:solidFill>
                  <a:srgbClr val="4A4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2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28840" y="5971894"/>
            <a:ext cx="6338189" cy="318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defTabSz="1218895"/>
            <a:r>
              <a:rPr lang="en-US" sz="1157" dirty="0">
                <a:solidFill>
                  <a:srgbClr val="FFA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7" dirty="0">
                <a:solidFill>
                  <a:srgbClr val="9EC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"Make sure to run all model cells first."</a:t>
            </a:r>
            <a:r>
              <a:rPr lang="en-US" sz="1157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7435183" y="1195398"/>
            <a:ext cx="4570809" cy="1889268"/>
          </a:xfrm>
          <a:prstGeom prst="rect">
            <a:avLst/>
          </a:prstGeom>
          <a:solidFill>
            <a:srgbClr val="1A1D24"/>
          </a:solidFill>
          <a:ln w="25400">
            <a:solidFill>
              <a:srgbClr val="39C46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7618015" y="1317286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3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  Key Steps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7618015" y="1707328"/>
            <a:ext cx="4327033" cy="125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evaluate() → loss &amp; accuracy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Run all 3 models on test_gen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f-string table: aligned cols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Loss &amp; Accuracy per model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'='*45 for clean borders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7435183" y="3169988"/>
            <a:ext cx="4570809" cy="1730813"/>
          </a:xfrm>
          <a:prstGeom prst="rect">
            <a:avLst/>
          </a:prstGeom>
          <a:solidFill>
            <a:srgbClr val="1A1D24"/>
          </a:solidFill>
          <a:ln w="25400">
            <a:solidFill>
              <a:srgbClr val="4A9EE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618015" y="3291876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4A9E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Expected Output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618015" y="3681918"/>
            <a:ext cx="4327033" cy="109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═════════════════════════════════════════════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Type           | Loss       | Accuracy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─────────────────────────────────────────────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CNN Custom           | 0.XXXX     | 0.XXXX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 Basic            | 0.XXXX     | 0.XXXX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ResNet50 (TL)        | 0.XXXX     | 0.XXXX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═════════════════════════════════════════════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435183" y="4973933"/>
            <a:ext cx="4570809" cy="1267638"/>
          </a:xfrm>
          <a:prstGeom prst="rect">
            <a:avLst/>
          </a:prstGeom>
          <a:solidFill>
            <a:srgbClr val="1A1D24"/>
          </a:solidFill>
          <a:ln w="25400">
            <a:solidFill>
              <a:srgbClr val="D4A44A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7618015" y="5095822"/>
            <a:ext cx="4327033" cy="3656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895"/>
            <a:r>
              <a:rPr lang="en-US" sz="1600" b="1" dirty="0">
                <a:solidFill>
                  <a:srgbClr val="D4A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 Why ResNet50 Wins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618015" y="5485864"/>
            <a:ext cx="4327033" cy="633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Pretrained on 1.2M images.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Reuses learned edge &amp; texture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→ higher accuracy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333" dirty="0">
                <a:solidFill>
                  <a:srgbClr val="C8D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less training time.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2312" y="854111"/>
            <a:ext cx="4144201" cy="292531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22312" y="854111"/>
            <a:ext cx="4144201" cy="2925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8531" dirty="0">
                <a:solidFill>
                  <a:srgbClr val="000000"/>
                </a:solidFill>
                <a:latin typeface="Calibri" panose="020F0502020204030204"/>
              </a:rPr>
              <a:t>🚀</a:t>
            </a:r>
            <a:endParaRPr lang="en-US" sz="853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441" y="4023205"/>
            <a:ext cx="10969943" cy="731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2933" b="1" dirty="0">
                <a:solidFill>
                  <a:srgbClr val="FFFFFF"/>
                </a:solidFill>
                <a:latin typeface="Calibri" panose="020F0502020204030204"/>
              </a:rPr>
              <a:t>Plant Disease Detection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441" y="4754535"/>
            <a:ext cx="10969943" cy="6094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2399" b="1" dirty="0">
                <a:solidFill>
                  <a:srgbClr val="FF7931"/>
                </a:solidFill>
                <a:latin typeface="Calibri" panose="020F0502020204030204"/>
              </a:rPr>
              <a:t>Section  6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441" y="5363976"/>
            <a:ext cx="10969943" cy="670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3999" b="1" dirty="0">
                <a:solidFill>
                  <a:srgbClr val="3FB950"/>
                </a:solidFill>
                <a:latin typeface="Calibri" panose="020F0502020204030204"/>
              </a:rPr>
              <a:t>Deployment</a:t>
            </a:r>
            <a:endParaRPr lang="en-US" sz="39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70385" y="6156249"/>
            <a:ext cx="1828324" cy="365665"/>
          </a:xfrm>
          <a:prstGeom prst="roundRect">
            <a:avLst>
              <a:gd name="adj" fmla="val 2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0385" y="6156249"/>
            <a:ext cx="1828324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333" b="1" dirty="0">
                <a:solidFill>
                  <a:srgbClr val="000000"/>
                </a:solidFill>
                <a:latin typeface="Calibri" panose="020F0502020204030204"/>
              </a:rPr>
              <a:t>Streamlit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44974" y="6156249"/>
            <a:ext cx="1828324" cy="365665"/>
          </a:xfrm>
          <a:prstGeom prst="roundRect">
            <a:avLst>
              <a:gd name="adj" fmla="val 2666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44974" y="6156249"/>
            <a:ext cx="1828324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333" b="1" dirty="0">
                <a:solidFill>
                  <a:srgbClr val="000000"/>
                </a:solidFill>
                <a:latin typeface="Calibri" panose="020F0502020204030204"/>
              </a:rPr>
              <a:t>ngrok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9564" y="6156249"/>
            <a:ext cx="1828324" cy="365665"/>
          </a:xfrm>
          <a:prstGeom prst="roundRect">
            <a:avLst>
              <a:gd name="adj" fmla="val 26667"/>
            </a:avLst>
          </a:prstGeom>
          <a:solidFill>
            <a:srgbClr val="FF7931"/>
          </a:solidFill>
          <a:ln w="1270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19564" y="6156249"/>
            <a:ext cx="1828324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333" b="1" dirty="0">
                <a:solidFill>
                  <a:srgbClr val="000000"/>
                </a:solidFill>
                <a:latin typeface="Calibri" panose="020F0502020204030204"/>
              </a:rPr>
              <a:t>TensorFlow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94154" y="6156249"/>
            <a:ext cx="1828324" cy="365665"/>
          </a:xfrm>
          <a:prstGeom prst="roundRect">
            <a:avLst>
              <a:gd name="adj" fmla="val 26667"/>
            </a:avLst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94154" y="6156249"/>
            <a:ext cx="1828324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333" b="1" dirty="0">
                <a:solidFill>
                  <a:srgbClr val="000000"/>
                </a:solidFill>
                <a:latin typeface="Calibri" panose="020F0502020204030204"/>
              </a:rPr>
              <a:t>Pillow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568743" y="6156249"/>
            <a:ext cx="1828324" cy="365665"/>
          </a:xfrm>
          <a:prstGeom prst="roundRect">
            <a:avLst>
              <a:gd name="adj" fmla="val 26667"/>
            </a:avLst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68743" y="6156249"/>
            <a:ext cx="1828324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333" b="1" dirty="0">
                <a:solidFill>
                  <a:srgbClr val="000000"/>
                </a:solidFill>
                <a:latin typeface="Calibri" panose="020F0502020204030204"/>
              </a:rPr>
              <a:t>OpenCV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664" y="6095306"/>
            <a:ext cx="1767380" cy="670385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3175" y="6217194"/>
            <a:ext cx="1645491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466" b="1" dirty="0">
                <a:solidFill>
                  <a:srgbClr val="3FB950"/>
                </a:solidFill>
                <a:latin typeface="Calibri" panose="020F0502020204030204"/>
              </a:rPr>
              <a:t>1 </a:t>
            </a:r>
            <a:r>
              <a:rPr lang="en-US" sz="1333" dirty="0">
                <a:solidFill>
                  <a:srgbClr val="E6EDF3"/>
                </a:solidFill>
                <a:latin typeface="Calibri" panose="020F0502020204030204"/>
              </a:rPr>
              <a:t>Install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18365" y="6095306"/>
            <a:ext cx="1767380" cy="670385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315876" y="6217194"/>
            <a:ext cx="1645491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466" b="1" dirty="0">
                <a:solidFill>
                  <a:srgbClr val="3FB950"/>
                </a:solidFill>
                <a:latin typeface="Calibri" panose="020F0502020204030204"/>
              </a:rPr>
              <a:t>2 </a:t>
            </a:r>
            <a:r>
              <a:rPr lang="en-US" sz="1333" dirty="0">
                <a:solidFill>
                  <a:srgbClr val="E6EDF3"/>
                </a:solidFill>
                <a:latin typeface="Calibri" panose="020F0502020204030204"/>
              </a:rPr>
              <a:t>Save Model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071067" y="6095306"/>
            <a:ext cx="1767380" cy="670385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68578" y="6217194"/>
            <a:ext cx="1645491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466" b="1" dirty="0">
                <a:solidFill>
                  <a:srgbClr val="3FB950"/>
                </a:solidFill>
                <a:latin typeface="Calibri" panose="020F0502020204030204"/>
              </a:rPr>
              <a:t>3 </a:t>
            </a:r>
            <a:r>
              <a:rPr lang="en-US" sz="1333" dirty="0">
                <a:solidFill>
                  <a:srgbClr val="E6EDF3"/>
                </a:solidFill>
                <a:latin typeface="Calibri" panose="020F0502020204030204"/>
              </a:rPr>
              <a:t>Write App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23768" y="6095306"/>
            <a:ext cx="1767380" cy="670385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21279" y="6217194"/>
            <a:ext cx="1645491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466" b="1" dirty="0">
                <a:solidFill>
                  <a:srgbClr val="3FB950"/>
                </a:solidFill>
                <a:latin typeface="Calibri" panose="020F0502020204030204"/>
              </a:rPr>
              <a:t>4 </a:t>
            </a:r>
            <a:r>
              <a:rPr lang="en-US" sz="1333" dirty="0">
                <a:solidFill>
                  <a:srgbClr val="E6EDF3"/>
                </a:solidFill>
                <a:latin typeface="Calibri" panose="020F0502020204030204"/>
              </a:rPr>
              <a:t>Run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776470" y="6095306"/>
            <a:ext cx="1767380" cy="670385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873981" y="6217194"/>
            <a:ext cx="1645491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466" b="1" dirty="0">
                <a:solidFill>
                  <a:srgbClr val="3FB950"/>
                </a:solidFill>
                <a:latin typeface="Calibri" panose="020F0502020204030204"/>
              </a:rPr>
              <a:t>5 </a:t>
            </a:r>
            <a:r>
              <a:rPr lang="en-US" sz="1333" dirty="0">
                <a:solidFill>
                  <a:srgbClr val="E6EDF3"/>
                </a:solidFill>
                <a:latin typeface="Calibri" panose="020F0502020204030204"/>
              </a:rPr>
              <a:t>Ngrok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29171" y="6095306"/>
            <a:ext cx="1767380" cy="670385"/>
          </a:xfrm>
          <a:prstGeom prst="rect">
            <a:avLst/>
          </a:prstGeom>
          <a:solidFill>
            <a:srgbClr val="1C2128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726682" y="6217194"/>
            <a:ext cx="1645491" cy="426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466" b="1" dirty="0">
                <a:solidFill>
                  <a:srgbClr val="3FB950"/>
                </a:solidFill>
                <a:latin typeface="Calibri" panose="020F0502020204030204"/>
              </a:rPr>
              <a:t>6 </a:t>
            </a:r>
            <a:r>
              <a:rPr lang="en-US" sz="1333" dirty="0">
                <a:solidFill>
                  <a:srgbClr val="E6EDF3"/>
                </a:solidFill>
                <a:latin typeface="Calibri" panose="020F0502020204030204"/>
              </a:rPr>
              <a:t>Public URL</a:t>
            </a:r>
            <a:endParaRPr lang="en-US" sz="1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9441" y="6460970"/>
            <a:ext cx="10969943" cy="30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200" dirty="0">
                <a:solidFill>
                  <a:srgbClr val="8B949E"/>
                </a:solidFill>
                <a:latin typeface="Calibri" panose="020F0502020204030204"/>
              </a:rPr>
              <a:t>PlantVillage Dataset  •  Python / TensorFlow  •  Binary Classification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1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217" y="183726"/>
            <a:ext cx="10726166" cy="463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2133" b="1" dirty="0">
                <a:solidFill>
                  <a:srgbClr val="FFFFFF"/>
                </a:solidFill>
                <a:latin typeface="Calibri" panose="020F0502020204030204"/>
              </a:rPr>
              <a:t>📦 Install Required Libraries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664" y="695656"/>
            <a:ext cx="11457496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695656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dirty="0">
                <a:solidFill>
                  <a:srgbClr val="8B949E"/>
                </a:solidFill>
                <a:latin typeface="Calibri" panose="020F0502020204030204"/>
              </a:rPr>
              <a:t>Install all dependencies needed for the Streamlit app and model deployment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664" y="1097887"/>
            <a:ext cx="11457496" cy="1157938"/>
          </a:xfrm>
          <a:prstGeom prst="rect">
            <a:avLst/>
          </a:prstGeom>
          <a:solidFill>
            <a:srgbClr val="161B22"/>
          </a:solidFill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553" y="1195398"/>
            <a:ext cx="11213719" cy="9629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Required Libraries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streamlit pyngrok tensorflow pillow numpy opencv-python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664" y="2438658"/>
            <a:ext cx="5484971" cy="292531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552" y="2536169"/>
            <a:ext cx="5241195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58A6FF"/>
                </a:solidFill>
                <a:latin typeface="Calibri" panose="020F0502020204030204"/>
              </a:rPr>
              <a:t>📚 Libraries Installed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3175" y="2877456"/>
            <a:ext cx="5289950" cy="0"/>
          </a:xfrm>
          <a:prstGeom prst="line">
            <a:avLst/>
          </a:prstGeom>
          <a:noFill/>
          <a:ln w="635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552" y="2950588"/>
            <a:ext cx="5241195" cy="23158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streamlit    → Web UI framework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pyngrok      → Public tunnel (expose localhost)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tensorflow   → Load &amp; run trained model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pillow       → Image processing (PIL)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numpy        → Array operations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opencv-python→ Image decoding (cv2)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6300" y="2438658"/>
            <a:ext cx="5606860" cy="292531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38189" y="2536169"/>
            <a:ext cx="5363083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3FB950"/>
                </a:solidFill>
                <a:latin typeface="Calibri" panose="020F0502020204030204"/>
              </a:rPr>
              <a:t>💡 Why These Libraries?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13811" y="2877456"/>
            <a:ext cx="5411838" cy="0"/>
          </a:xfrm>
          <a:prstGeom prst="line">
            <a:avLst/>
          </a:prstGeom>
          <a:noFill/>
          <a:ln w="63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38189" y="2950588"/>
            <a:ext cx="5363083" cy="23158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Streamlit makes web UI with pure Python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pyngrok tunnels Colab localhost to web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TensorFlow loads the .keras model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cv2 decodes uploaded image bytes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PIL &amp; numpy handle image array ops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664" y="5546808"/>
            <a:ext cx="11457496" cy="853218"/>
          </a:xfrm>
          <a:prstGeom prst="rect">
            <a:avLst/>
          </a:prstGeom>
          <a:solidFill>
            <a:srgbClr val="161B22"/>
          </a:solidFill>
          <a:ln w="1270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7553" y="5644319"/>
            <a:ext cx="11213719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FF7931"/>
                </a:solidFill>
                <a:latin typeface="Calibri" panose="020F0502020204030204"/>
              </a:rPr>
              <a:t>📊 Output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3175" y="5985606"/>
            <a:ext cx="11262474" cy="0"/>
          </a:xfrm>
          <a:prstGeom prst="line">
            <a:avLst/>
          </a:prstGeom>
          <a:noFill/>
          <a:ln w="635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7553" y="6058739"/>
            <a:ext cx="11213719" cy="2437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All packages installed in Colab runtime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Ready to run Streamlit app &amp; expose via ngrok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-1" y="6619425"/>
            <a:ext cx="12188825" cy="243777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664" y="6619425"/>
            <a:ext cx="11457496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Step 1 of 6  •  Installation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solidFill>
            <a:srgbClr val="FF7931"/>
          </a:solidFill>
          <a:ln w="1270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2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217" y="183726"/>
            <a:ext cx="10726166" cy="463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2133" b="1" dirty="0">
                <a:solidFill>
                  <a:srgbClr val="FFFFFF"/>
                </a:solidFill>
                <a:latin typeface="Calibri" panose="020F0502020204030204"/>
              </a:rPr>
              <a:t>💾 Save Trained Model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664" y="695656"/>
            <a:ext cx="11457496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695656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dirty="0">
                <a:solidFill>
                  <a:srgbClr val="8B949E"/>
                </a:solidFill>
                <a:latin typeface="Calibri" panose="020F0502020204030204"/>
              </a:rPr>
              <a:t>Export the trained Keras model to disk so Streamlit can load it at runtime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664" y="1097887"/>
            <a:ext cx="11457496" cy="853218"/>
          </a:xfrm>
          <a:prstGeom prst="rect">
            <a:avLst/>
          </a:prstGeom>
          <a:solidFill>
            <a:srgbClr val="161B22"/>
          </a:solidFill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553" y="1195398"/>
            <a:ext cx="11213719" cy="658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Trained Model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model.save("model.keras")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664" y="2133937"/>
            <a:ext cx="5484971" cy="2437765"/>
          </a:xfrm>
          <a:prstGeom prst="rect">
            <a:avLst/>
          </a:prstGeom>
          <a:solidFill>
            <a:srgbClr val="161B22"/>
          </a:solidFill>
          <a:ln w="1270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552" y="2231448"/>
            <a:ext cx="5241195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FF7931"/>
                </a:solidFill>
                <a:latin typeface="Calibri" panose="020F0502020204030204"/>
              </a:rPr>
              <a:t>🔑 Key Detail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3175" y="2572735"/>
            <a:ext cx="5289950" cy="0"/>
          </a:xfrm>
          <a:prstGeom prst="line">
            <a:avLst/>
          </a:prstGeom>
          <a:noFill/>
          <a:ln w="635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552" y="2645868"/>
            <a:ext cx="5241195" cy="1828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model.save()  →  Saves the full Keras model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"model.keras" →  Native Keras format (v3)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Includes: architecture, weights, optimizer state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File saved to current Colab working directory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6300" y="2133937"/>
            <a:ext cx="5606860" cy="2437765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38189" y="2231448"/>
            <a:ext cx="5363083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D2A8FF"/>
                </a:solidFill>
                <a:latin typeface="Calibri" panose="020F0502020204030204"/>
              </a:rPr>
              <a:t>📂 What Gets Saved?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13811" y="2572735"/>
            <a:ext cx="5411838" cy="0"/>
          </a:xfrm>
          <a:prstGeom prst="line">
            <a:avLst/>
          </a:prstGeom>
          <a:noFill/>
          <a:ln w="6350">
            <a:solidFill>
              <a:srgbClr val="D2A8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38189" y="2645868"/>
            <a:ext cx="5363083" cy="18283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✓  Model architecture (layers, filters)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✓  Trained weights (all learned parameters)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✓  Optimizer state (Adam settings)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✓  Training config (loss, metrics)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664" y="4693590"/>
            <a:ext cx="5484971" cy="1828324"/>
          </a:xfrm>
          <a:prstGeom prst="rect">
            <a:avLst/>
          </a:prstGeom>
          <a:solidFill>
            <a:srgbClr val="161B22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7552" y="4791101"/>
            <a:ext cx="5241195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79C0FF"/>
                </a:solidFill>
                <a:latin typeface="Calibri" panose="020F0502020204030204"/>
              </a:rPr>
              <a:t>⚠️ Important Notes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3175" y="5132388"/>
            <a:ext cx="5289950" cy="0"/>
          </a:xfrm>
          <a:prstGeom prst="line">
            <a:avLst/>
          </a:prstGeom>
          <a:noFill/>
          <a:ln w="6350">
            <a:solidFill>
              <a:srgbClr val="79C0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7552" y="5205521"/>
            <a:ext cx="5241195" cy="1218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Must run AFTER model.fit() completes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.keras format (not .h5) — modern standard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Used by load_model() in the Streamlit app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16300" y="4693590"/>
            <a:ext cx="5606860" cy="1828324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38189" y="4791101"/>
            <a:ext cx="5363083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3FB950"/>
                </a:solidFill>
                <a:latin typeface="Calibri" panose="020F0502020204030204"/>
              </a:rPr>
              <a:t>📊 Output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13811" y="5132388"/>
            <a:ext cx="5411838" cy="0"/>
          </a:xfrm>
          <a:prstGeom prst="line">
            <a:avLst/>
          </a:prstGeom>
          <a:noFill/>
          <a:ln w="63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38189" y="5205521"/>
            <a:ext cx="5363083" cy="1218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model.keras  →  Saved model file on disk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-1" y="6619425"/>
            <a:ext cx="12188825" cy="243777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664" y="6619425"/>
            <a:ext cx="11457496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Step 2 of 6  •  Model Export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3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217" y="183726"/>
            <a:ext cx="10726166" cy="463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2133" b="1" dirty="0">
                <a:solidFill>
                  <a:srgbClr val="FFFFFF"/>
                </a:solidFill>
                <a:latin typeface="Calibri" panose="020F0502020204030204"/>
              </a:rPr>
              <a:t>🖊️ Write Streamlit App — Part 1: Imports &amp; Setup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664" y="695656"/>
            <a:ext cx="11457496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695656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dirty="0">
                <a:solidFill>
                  <a:srgbClr val="8B949E"/>
                </a:solidFill>
                <a:latin typeface="Calibri" panose="020F0502020204030204"/>
              </a:rPr>
              <a:t>Define the app file and load all required modules and the trained model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664" y="1097887"/>
            <a:ext cx="6825742" cy="5302139"/>
          </a:xfrm>
          <a:prstGeom prst="rect">
            <a:avLst/>
          </a:prstGeom>
          <a:solidFill>
            <a:srgbClr val="161B22"/>
          </a:solidFill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552" y="1195398"/>
            <a:ext cx="6581966" cy="510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%%writefile app.py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streamlit as st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tensorflow.keras.models import load_model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the trained model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load_model("model.keras")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 Title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st.title("🌿 Plant Disease Detection")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st.write("Upload a leaf image for prediction")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Upload Image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uploaded_file = st.file_uploader(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"Choose an image",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type=["jpg", "png", "jpeg"]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35183" y="1097887"/>
            <a:ext cx="4387977" cy="20721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7071" y="1195398"/>
            <a:ext cx="4144201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58A6FF"/>
                </a:solidFill>
                <a:latin typeface="Calibri" panose="020F0502020204030204"/>
              </a:rPr>
              <a:t>📌 %%writefile app.py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32693" y="1536685"/>
            <a:ext cx="4192956" cy="0"/>
          </a:xfrm>
          <a:prstGeom prst="line">
            <a:avLst/>
          </a:prstGeom>
          <a:noFill/>
          <a:ln w="635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57071" y="1609818"/>
            <a:ext cx="4144201" cy="14626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Colab magic command: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Writes everything below into app.py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Creates the file on disk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Streamlit will run this file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35183" y="3291875"/>
            <a:ext cx="4387977" cy="2193989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57071" y="3389386"/>
            <a:ext cx="4144201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3FB950"/>
                </a:solidFill>
                <a:latin typeface="Calibri" panose="020F0502020204030204"/>
              </a:rPr>
              <a:t>🔑 Imports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32693" y="3730673"/>
            <a:ext cx="4192956" cy="0"/>
          </a:xfrm>
          <a:prstGeom prst="line">
            <a:avLst/>
          </a:prstGeom>
          <a:noFill/>
          <a:ln w="63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57071" y="3803806"/>
            <a:ext cx="4144201" cy="1584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streamlit    → UI components (st.*)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numpy        → Array math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cv2          → Image decoding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load_model   → Load .keras file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PIL.Image    → Image type support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35183" y="5607752"/>
            <a:ext cx="4387977" cy="792274"/>
          </a:xfrm>
          <a:prstGeom prst="rect">
            <a:avLst/>
          </a:prstGeom>
          <a:solidFill>
            <a:srgbClr val="161B22"/>
          </a:solidFill>
          <a:ln w="1270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57071" y="5705263"/>
            <a:ext cx="4144201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FF7931"/>
                </a:solidFill>
                <a:latin typeface="Calibri" panose="020F0502020204030204"/>
              </a:rPr>
              <a:t>📊 Output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32693" y="6046550"/>
            <a:ext cx="4192956" cy="0"/>
          </a:xfrm>
          <a:prstGeom prst="line">
            <a:avLst/>
          </a:prstGeom>
          <a:noFill/>
          <a:ln w="635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57071" y="6119683"/>
            <a:ext cx="4144201" cy="182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app.py created with UI title &amp; file uploader widget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-1" y="6619425"/>
            <a:ext cx="12188825" cy="243777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664" y="6619425"/>
            <a:ext cx="11457496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Step 3 of 6  •  Streamlit App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3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217" y="183726"/>
            <a:ext cx="10726166" cy="463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2133" b="1" dirty="0">
                <a:solidFill>
                  <a:srgbClr val="FFFFFF"/>
                </a:solidFill>
                <a:latin typeface="Calibri" panose="020F0502020204030204"/>
              </a:rPr>
              <a:t>🖊️ Write Streamlit App — Part 2: Image Processing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664" y="695656"/>
            <a:ext cx="11457496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695656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dirty="0">
                <a:solidFill>
                  <a:srgbClr val="8B949E"/>
                </a:solidFill>
                <a:latin typeface="Calibri" panose="020F0502020204030204"/>
              </a:rPr>
              <a:t>Read the uploaded image bytes, decode with OpenCV, and display in the app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664" y="1097887"/>
            <a:ext cx="6825742" cy="5302139"/>
          </a:xfrm>
          <a:prstGeom prst="rect">
            <a:avLst/>
          </a:prstGeom>
          <a:solidFill>
            <a:srgbClr val="161B22"/>
          </a:solidFill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552" y="1195398"/>
            <a:ext cx="6581966" cy="510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uploaded_file is not None: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Convert uploaded image to OpenCV format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file_bytes = np.asarray(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bytearray(uploaded_file.read()),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dtype=np.uint8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img_bgr = cv2.imdecode(file_bytes, 1)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image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img_bgr is None: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st.error("Error loading image")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Convert BGR → RGB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img_rgb = cv2.cvtColor(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img_bgr,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cv2.COLOR_BGR2RGB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Display uploaded image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st.image(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img_rgb,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caption="Uploaded Image",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use_container_width=True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35183" y="1097887"/>
            <a:ext cx="4387977" cy="2681542"/>
          </a:xfrm>
          <a:prstGeom prst="rect">
            <a:avLst/>
          </a:prstGeom>
          <a:solidFill>
            <a:srgbClr val="161B22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7071" y="1195398"/>
            <a:ext cx="4144201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79C0FF"/>
                </a:solidFill>
                <a:latin typeface="Calibri" panose="020F0502020204030204"/>
              </a:rPr>
              <a:t>🔄 Processing Pipeline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32693" y="1536685"/>
            <a:ext cx="4192956" cy="0"/>
          </a:xfrm>
          <a:prstGeom prst="line">
            <a:avLst/>
          </a:prstGeom>
          <a:noFill/>
          <a:ln w="6350">
            <a:solidFill>
              <a:srgbClr val="79C0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57071" y="1609818"/>
            <a:ext cx="4144201" cy="2072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1. uploaded_file.read() → raw bytes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2. bytearray() → byte array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3. np.asarray()→ numpy uint8 array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4. cv2.imdecode()→ decode to BGR image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5. cvtColor BGR→RGB for display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35183" y="3901317"/>
            <a:ext cx="4387977" cy="1950212"/>
          </a:xfrm>
          <a:prstGeom prst="rect">
            <a:avLst/>
          </a:prstGeom>
          <a:solidFill>
            <a:srgbClr val="161B22"/>
          </a:solidFill>
          <a:ln w="1270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57071" y="3998828"/>
            <a:ext cx="4144201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FF7931"/>
                </a:solidFill>
                <a:latin typeface="Calibri" panose="020F0502020204030204"/>
              </a:rPr>
              <a:t>⚠️ BGR vs RGB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32693" y="4340115"/>
            <a:ext cx="4192956" cy="0"/>
          </a:xfrm>
          <a:prstGeom prst="line">
            <a:avLst/>
          </a:prstGeom>
          <a:noFill/>
          <a:ln w="635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57071" y="4413247"/>
            <a:ext cx="4144201" cy="1340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OpenCV reads images as BGR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Streamlit/matplotlib expect RGB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cvtColor converts the order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Skipping causes wrong colors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35183" y="5973417"/>
            <a:ext cx="4387977" cy="426609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57071" y="6070928"/>
            <a:ext cx="4144201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3FB950"/>
                </a:solidFill>
                <a:latin typeface="Calibri" panose="020F0502020204030204"/>
              </a:rPr>
              <a:t>📊 Output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32693" y="6412215"/>
            <a:ext cx="4192956" cy="0"/>
          </a:xfrm>
          <a:prstGeom prst="line">
            <a:avLst/>
          </a:prstGeom>
          <a:noFill/>
          <a:ln w="63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57071" y="6485348"/>
            <a:ext cx="4144201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Image displayed inside the Streamlit app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-1" y="6619425"/>
            <a:ext cx="12188825" cy="243777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664" y="6619425"/>
            <a:ext cx="11457496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Step 3 of 6  •  Streamlit App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3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217" y="183726"/>
            <a:ext cx="10726166" cy="463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2133" b="1" dirty="0">
                <a:solidFill>
                  <a:srgbClr val="FFFFFF"/>
                </a:solidFill>
                <a:latin typeface="Calibri" panose="020F0502020204030204"/>
              </a:rPr>
              <a:t>🖊️ Write Streamlit App — Part 3: Preprocess &amp; Predict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664" y="695656"/>
            <a:ext cx="11457496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695656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dirty="0">
                <a:solidFill>
                  <a:srgbClr val="8B949E"/>
                </a:solidFill>
                <a:latin typeface="Calibri" panose="020F0502020204030204"/>
              </a:rPr>
              <a:t>Resize, normalize, expand dims — then run model.predict() and classify the result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664" y="1097887"/>
            <a:ext cx="6825742" cy="5302139"/>
          </a:xfrm>
          <a:prstGeom prst="rect">
            <a:avLst/>
          </a:prstGeom>
          <a:solidFill>
            <a:srgbClr val="161B22"/>
          </a:solidFill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552" y="1195398"/>
            <a:ext cx="6581966" cy="510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Image Preprocessing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img_resized = cv2.resize(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img_rgb,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(128, 128)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img_normalized = img_resized / 255.0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img_final = np.expand_dims(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img_normalized,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axis=0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Prediction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prediction = model.predict(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img_final,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verbose=0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prob = prediction[0][0]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Classification Logic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prob &lt;= 0.5: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label = "Diseased"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confidence = prob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st.error(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f"Prediction: {label} 😷🌱"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st.write(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f"Confidence: {confidence:.2f}"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label = "Healthy"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confidence = 1 - prob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st.success(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f"Prediction: {label} 🌱"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st.write(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f"Confidence: {confidence:.2f}"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35183" y="1097887"/>
            <a:ext cx="4387977" cy="2193989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7071" y="1195398"/>
            <a:ext cx="4144201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D2A8FF"/>
                </a:solidFill>
                <a:latin typeface="Calibri" panose="020F0502020204030204"/>
              </a:rPr>
              <a:t>⚙️ Preprocessing Steps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32693" y="1536685"/>
            <a:ext cx="4192956" cy="0"/>
          </a:xfrm>
          <a:prstGeom prst="line">
            <a:avLst/>
          </a:prstGeom>
          <a:noFill/>
          <a:ln w="6350">
            <a:solidFill>
              <a:srgbClr val="D2A8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57071" y="1609818"/>
            <a:ext cx="4144201" cy="1584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resize(128,128)  → match training size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/ 255.0          → normalize to [0,1]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expand_dims(,0)  → add batch dim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Shape: (128,128,3) → (1,128,128,3)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35183" y="3413764"/>
            <a:ext cx="4387977" cy="298626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57071" y="3511275"/>
            <a:ext cx="4144201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3FB950"/>
                </a:solidFill>
                <a:latin typeface="Calibri" panose="020F0502020204030204"/>
              </a:rPr>
              <a:t>🎯 Classification Logic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32693" y="3852562"/>
            <a:ext cx="4192956" cy="0"/>
          </a:xfrm>
          <a:prstGeom prst="line">
            <a:avLst/>
          </a:prstGeom>
          <a:noFill/>
          <a:ln w="63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57071" y="3925695"/>
            <a:ext cx="4144201" cy="2376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prob = sigmoid output (0.0–1.0)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prob ≤ 0.5 → Diseased 😷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prob &gt; 0.5 → Healthy 🌱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confidence shown as float :.2f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st.error() → red box (diseased)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st.success()→ green box (healthy)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-1" y="6619425"/>
            <a:ext cx="12188825" cy="243777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664" y="6619425"/>
            <a:ext cx="11457496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Step 3 of 6  •  Streamlit App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4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217" y="183726"/>
            <a:ext cx="10726166" cy="463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2133" b="1" dirty="0">
                <a:solidFill>
                  <a:srgbClr val="FFFFFF"/>
                </a:solidFill>
                <a:latin typeface="Calibri" panose="020F0502020204030204"/>
              </a:rPr>
              <a:t>▶️ Start Streamlit App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664" y="695656"/>
            <a:ext cx="11457496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695656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dirty="0">
                <a:solidFill>
                  <a:srgbClr val="8B949E"/>
                </a:solidFill>
                <a:latin typeface="Calibri" panose="020F0502020204030204"/>
              </a:rPr>
              <a:t>Launch the Streamlit server on port 8501 in the Colab background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664" y="1097887"/>
            <a:ext cx="6825742" cy="1706436"/>
          </a:xfrm>
          <a:prstGeom prst="rect">
            <a:avLst/>
          </a:prstGeom>
          <a:solidFill>
            <a:srgbClr val="161B22"/>
          </a:solidFill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552" y="1195398"/>
            <a:ext cx="6581966" cy="1511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Streamlit App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get_ipython().system_raw(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"streamlit run app.py --server.port 8501 &amp;"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664" y="2987155"/>
            <a:ext cx="6825742" cy="853218"/>
          </a:xfrm>
          <a:prstGeom prst="rect">
            <a:avLst/>
          </a:prstGeom>
          <a:solidFill>
            <a:srgbClr val="161B22"/>
          </a:solidFill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552" y="3084665"/>
            <a:ext cx="6581966" cy="6581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Ngrok Authentication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!ngrok authtoken YOUR_NGROK_TOKEN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664" y="4023205"/>
            <a:ext cx="6825742" cy="1462659"/>
          </a:xfrm>
          <a:prstGeom prst="rect">
            <a:avLst/>
          </a:prstGeom>
          <a:solidFill>
            <a:srgbClr val="161B22"/>
          </a:solidFill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552" y="4120716"/>
            <a:ext cx="6581966" cy="12676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Public URL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pyngrok import ngrok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public_url = ngrok.connect(8501)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print("Public URL:", public_url)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35183" y="1097887"/>
            <a:ext cx="4387977" cy="2011156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57071" y="1195398"/>
            <a:ext cx="4144201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3FB950"/>
                </a:solidFill>
                <a:latin typeface="Calibri" panose="020F0502020204030204"/>
              </a:rPr>
              <a:t>🔧 system_raw()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32693" y="1536685"/>
            <a:ext cx="4192956" cy="0"/>
          </a:xfrm>
          <a:prstGeom prst="line">
            <a:avLst/>
          </a:prstGeom>
          <a:noFill/>
          <a:ln w="63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57071" y="1609818"/>
            <a:ext cx="4144201" cy="14017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Runs shell command in background (&amp;)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Non-blocking → cell continues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--server.port 8501  → fixed port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app.py is the Streamlit script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35183" y="3230931"/>
            <a:ext cx="4387977" cy="1828324"/>
          </a:xfrm>
          <a:prstGeom prst="rect">
            <a:avLst/>
          </a:prstGeom>
          <a:solidFill>
            <a:srgbClr val="161B22"/>
          </a:solidFill>
          <a:ln w="1270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57071" y="3328442"/>
            <a:ext cx="4144201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FF7931"/>
                </a:solidFill>
                <a:latin typeface="Calibri" panose="020F0502020204030204"/>
              </a:rPr>
              <a:t>🔑 Ngrok Auth 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32693" y="3669729"/>
            <a:ext cx="4192956" cy="0"/>
          </a:xfrm>
          <a:prstGeom prst="line">
            <a:avLst/>
          </a:prstGeom>
          <a:noFill/>
          <a:ln w="635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57071" y="3742862"/>
            <a:ext cx="4144201" cy="1218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Sign up at ngrok.com (free)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Get your authtoken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Replace YOUR_NGROK_TOKEN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→  Required to create tunnels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35183" y="5181143"/>
            <a:ext cx="4387977" cy="1218883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57071" y="5278654"/>
            <a:ext cx="4144201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b="1" dirty="0">
                <a:solidFill>
                  <a:srgbClr val="58A6FF"/>
                </a:solidFill>
                <a:latin typeface="Calibri" panose="020F0502020204030204"/>
              </a:rPr>
              <a:t>🌐 ngrok.connect(8501)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32693" y="5619941"/>
            <a:ext cx="4192956" cy="0"/>
          </a:xfrm>
          <a:prstGeom prst="line">
            <a:avLst/>
          </a:prstGeom>
          <a:noFill/>
          <a:ln w="635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57071" y="5693074"/>
            <a:ext cx="4144201" cy="609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Creates a secure public HTTPS URL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Tunnels traffic → localhost:8501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Share the URL with anyone globally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200" dirty="0">
                <a:solidFill>
                  <a:srgbClr val="E6EDF3"/>
                </a:solidFill>
                <a:latin typeface="Calibri" panose="020F0502020204030204"/>
              </a:rPr>
              <a:t>Output: https://xxxx.ngrok.io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-1" y="6619425"/>
            <a:ext cx="12188825" cy="243777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664" y="6619425"/>
            <a:ext cx="11457496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Step 4-6 of 6  •  Run &amp; Deploy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✅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217" y="183726"/>
            <a:ext cx="10726166" cy="463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2133" b="1" dirty="0">
                <a:solidFill>
                  <a:srgbClr val="FFFFFF"/>
                </a:solidFill>
                <a:latin typeface="Calibri" panose="020F0502020204030204"/>
              </a:rPr>
              <a:t>📄 Full Code — Complete Deployment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664" y="695656"/>
            <a:ext cx="11457496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695656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dirty="0">
                <a:solidFill>
                  <a:srgbClr val="8B949E"/>
                </a:solidFill>
                <a:latin typeface="Calibri" panose="020F0502020204030204"/>
              </a:rPr>
              <a:t>Every single line — nothing deleted — ready to run cell by cell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664" y="1097887"/>
            <a:ext cx="5484971" cy="5302139"/>
          </a:xfrm>
          <a:prstGeom prst="rect">
            <a:avLst/>
          </a:prstGeom>
          <a:solidFill>
            <a:srgbClr val="161B22"/>
          </a:solidFill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552" y="1195398"/>
            <a:ext cx="5241195" cy="510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Required Libraries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streamlit pyngrok tensorflow pillow numpy opencv-python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Trained Model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model.save("model.keras")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Streamlit App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%%writefile app.py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streamlit as st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tensorflow.keras.models import load_model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the trained model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load_model("model.keras")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 Title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st.title("🌿 Plant Disease Detection")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st.write("Upload a leaf image for prediction")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Upload Image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uploaded_file = st.file_uploader(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"Choose an image",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type=["jpg", "png", "jpeg"]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55356" y="1097887"/>
            <a:ext cx="5667804" cy="5302139"/>
          </a:xfrm>
          <a:prstGeom prst="rect">
            <a:avLst/>
          </a:prstGeom>
          <a:solidFill>
            <a:srgbClr val="161B22"/>
          </a:solidFill>
          <a:ln w="635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77244" y="1195398"/>
            <a:ext cx="5424027" cy="510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uploaded_file is not None: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file_bytes = np.asarray(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bytearray(uploaded_file.read()),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dtype=np.uint8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img_bgr = cv2.imdecode(file_bytes, 1)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img_bgr is None: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st.error("Error loading image")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img_rgb = cv2.cvtColor(img_bgr, cv2.COLOR_BGR2RGB)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st.image(img_rgb, caption="Uploaded Image",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use_container_width=True)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img_resized = cv2.resize(img_rgb, (128, 128))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img_normalized = img_resized / 255.0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img_final = np.expand_dims(img_normalized, axis=0)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prediction = model.predict(img_final, verbose=0)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prob = prediction[0][0]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prob &lt;= 0.5: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label = "Diseased"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confidence = prob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st.error(f"Prediction: {label} 😷🌱")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st.write(f"Confidence: {confidence:.2f}")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label = "Healthy"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confidence = 1 - prob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st.success(f"Prediction: {label} 🌱")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st.write(f"Confidence: {confidence:.2f}")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Streamlit App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get_ipython().system_raw(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"streamlit run app.py --server.port 8501 &amp;")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Ngrok Authentication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!ngrok authtoken YOUR_NGROK_TOKEN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Public URL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pyngrok import ngrok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public_url = ngrok.connect(8501)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895"/>
            <a:r>
              <a:rPr lang="en-US" sz="1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print("Public URL:", public_url)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-1" y="6619425"/>
            <a:ext cx="12188825" cy="243777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664" y="6619425"/>
            <a:ext cx="11457496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Step Full of 6  •  Complete Deployment Code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664" y="220292"/>
            <a:ext cx="390042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733" b="1" dirty="0">
                <a:solidFill>
                  <a:srgbClr val="000000"/>
                </a:solidFill>
                <a:latin typeface="Calibri" panose="020F0502020204030204"/>
              </a:rPr>
              <a:t>🚀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217" y="183726"/>
            <a:ext cx="10726166" cy="463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2133" b="1" dirty="0">
                <a:solidFill>
                  <a:srgbClr val="FFFFFF"/>
                </a:solidFill>
                <a:latin typeface="Calibri" panose="020F0502020204030204"/>
              </a:rPr>
              <a:t>📋 Deployment Summary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664" y="695656"/>
            <a:ext cx="11457496" cy="0"/>
          </a:xfrm>
          <a:prstGeom prst="line">
            <a:avLst/>
          </a:prstGeom>
          <a:noFill/>
          <a:ln w="12700">
            <a:solidFill>
              <a:srgbClr val="1C2128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217" y="695656"/>
            <a:ext cx="10604278" cy="341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333" dirty="0">
                <a:solidFill>
                  <a:srgbClr val="8B949E"/>
                </a:solidFill>
                <a:latin typeface="Calibri" panose="020F0502020204030204"/>
              </a:rPr>
              <a:t>End-to-end overview of the 6-step deployment pipeline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664" y="1097887"/>
            <a:ext cx="5545915" cy="1584547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664" y="1097887"/>
            <a:ext cx="487553" cy="1584547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664" y="1097887"/>
            <a:ext cx="487553" cy="1584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1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105" y="1195398"/>
            <a:ext cx="4814586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600" b="1" dirty="0">
                <a:solidFill>
                  <a:srgbClr val="58A6FF"/>
                </a:solidFill>
                <a:latin typeface="Calibri" panose="020F0502020204030204"/>
              </a:rPr>
              <a:t>Install Libraries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105" y="1609818"/>
            <a:ext cx="4814586" cy="91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streamlit pyngrok tensorflow pillow numpy opencv-python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6300" y="1097887"/>
            <a:ext cx="5545915" cy="1584547"/>
          </a:xfrm>
          <a:prstGeom prst="rect">
            <a:avLst/>
          </a:prstGeom>
          <a:solidFill>
            <a:srgbClr val="161B22"/>
          </a:solidFill>
          <a:ln w="1905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6300" y="1097887"/>
            <a:ext cx="487553" cy="1584547"/>
          </a:xfrm>
          <a:prstGeom prst="rect">
            <a:avLst/>
          </a:prstGeom>
          <a:solidFill>
            <a:srgbClr val="FF7931"/>
          </a:solidFill>
          <a:ln w="12700">
            <a:solidFill>
              <a:srgbClr val="FF7931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6300" y="1097887"/>
            <a:ext cx="487553" cy="1584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2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25741" y="1195398"/>
            <a:ext cx="4814586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600" b="1" dirty="0">
                <a:solidFill>
                  <a:srgbClr val="FF7931"/>
                </a:solidFill>
                <a:latin typeface="Calibri" panose="020F0502020204030204"/>
              </a:rPr>
              <a:t>Save Model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25741" y="1609818"/>
            <a:ext cx="4814586" cy="91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model.save("model.keras")  → Export trained weights to disk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664" y="2865267"/>
            <a:ext cx="5545915" cy="1584547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664" y="2865267"/>
            <a:ext cx="487553" cy="1584547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664" y="2865267"/>
            <a:ext cx="487553" cy="1584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3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75105" y="2962778"/>
            <a:ext cx="4814586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600" b="1" dirty="0">
                <a:solidFill>
                  <a:srgbClr val="3FB950"/>
                </a:solidFill>
                <a:latin typeface="Calibri" panose="020F0502020204030204"/>
              </a:rPr>
              <a:t>Write App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75105" y="3377197"/>
            <a:ext cx="4814586" cy="91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%%writefile app.py  → Full Streamlit UI with upload &amp; predict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16300" y="2865267"/>
            <a:ext cx="5545915" cy="1584547"/>
          </a:xfrm>
          <a:prstGeom prst="rect">
            <a:avLst/>
          </a:prstGeom>
          <a:solidFill>
            <a:srgbClr val="161B22"/>
          </a:solidFill>
          <a:ln w="19050">
            <a:solidFill>
              <a:srgbClr val="D2A8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6300" y="2865267"/>
            <a:ext cx="487553" cy="1584547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16300" y="2865267"/>
            <a:ext cx="487553" cy="1584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4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25741" y="2962778"/>
            <a:ext cx="4814586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600" b="1" dirty="0">
                <a:solidFill>
                  <a:srgbClr val="D2A8FF"/>
                </a:solidFill>
                <a:latin typeface="Calibri" panose="020F0502020204030204"/>
              </a:rPr>
              <a:t>Run App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25741" y="3377197"/>
            <a:ext cx="4814586" cy="91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system_raw streamlit run app.py --server.port 8501 &amp;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5664" y="4632647"/>
            <a:ext cx="5545915" cy="1584547"/>
          </a:xfrm>
          <a:prstGeom prst="rect">
            <a:avLst/>
          </a:prstGeom>
          <a:solidFill>
            <a:srgbClr val="161B22"/>
          </a:solidFill>
          <a:ln w="19050">
            <a:solidFill>
              <a:srgbClr val="79C0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5664" y="4632647"/>
            <a:ext cx="487553" cy="1584547"/>
          </a:xfrm>
          <a:prstGeom prst="rect">
            <a:avLst/>
          </a:prstGeom>
          <a:solidFill>
            <a:srgbClr val="79C0FF"/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65664" y="4632647"/>
            <a:ext cx="487553" cy="1584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5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75105" y="4730157"/>
            <a:ext cx="4814586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600" b="1" dirty="0">
                <a:solidFill>
                  <a:srgbClr val="79C0FF"/>
                </a:solidFill>
                <a:latin typeface="Calibri" panose="020F0502020204030204"/>
              </a:rPr>
              <a:t>Ngrok Auth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5105" y="5144577"/>
            <a:ext cx="4814586" cy="91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!ngrok authtoken YOUR_TOKEN  → Authenticate with ngrok service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16300" y="4632647"/>
            <a:ext cx="5545915" cy="1584547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16300" y="4632647"/>
            <a:ext cx="487553" cy="1584547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16300" y="4632647"/>
            <a:ext cx="487553" cy="1584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6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25741" y="4730157"/>
            <a:ext cx="4814586" cy="3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8895"/>
            <a:r>
              <a:rPr lang="en-US" sz="1600" b="1" dirty="0">
                <a:solidFill>
                  <a:srgbClr val="3FB950"/>
                </a:solidFill>
                <a:latin typeface="Calibri" panose="020F0502020204030204"/>
              </a:rPr>
              <a:t>Public URL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25741" y="5144577"/>
            <a:ext cx="4814586" cy="914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8895"/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ngrok.connect(8501)  → Get shareable HTTPS URL for the app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-1" y="6619425"/>
            <a:ext cx="12188825" cy="243777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pPr defTabSz="1218895"/>
            <a:endParaRPr lang="en-US" sz="2399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65664" y="6619425"/>
            <a:ext cx="11457496" cy="243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8895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Step All of 6  •  Deployment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8" y="1786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88" y="976637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588" y="1951490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588" y="2926342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88" y="3901194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588" y="4876046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588" y="5850898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588" y="6825750"/>
            <a:ext cx="12185651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-1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76440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51290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26144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00995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5848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50699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25552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800404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775256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750108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724960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1699812" y="1787"/>
            <a:ext cx="0" cy="6854429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506395" y="1787"/>
            <a:ext cx="2680844" cy="6854429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506394" y="1787"/>
            <a:ext cx="60928" cy="6854429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89180" y="611069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ANN PlantVillage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689180" y="1135053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89180" y="1659035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model.add(Flatten())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89180" y="2183019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model.add(Dense(512))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89180" y="2707002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model.add(Dropout(0.4))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89180" y="3230986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model.add(Dense(1,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89180" y="3754968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activation='sigmoid'))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689180" y="4278951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689180" y="4802933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optimizer=Adam(),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689180" y="5326917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loss='binary_crossentropy'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689180" y="5850899"/>
            <a:ext cx="2315274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54583" y="1342206"/>
            <a:ext cx="8286243" cy="7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4797" b="1" dirty="0">
                <a:solidFill>
                  <a:srgbClr val="F0F6FF"/>
                </a:solidFill>
                <a:latin typeface="Calibri" panose="020F0502020204030204"/>
              </a:rPr>
              <a:t>ANN Model</a:t>
            </a:r>
          </a:p>
        </p:txBody>
      </p:sp>
      <p:sp>
        <p:nvSpPr>
          <p:cNvPr id="37" name="Text 35"/>
          <p:cNvSpPr/>
          <p:nvPr/>
        </p:nvSpPr>
        <p:spPr>
          <a:xfrm>
            <a:off x="854583" y="2134275"/>
            <a:ext cx="8286243" cy="60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2933" b="1" dirty="0">
                <a:solidFill>
                  <a:srgbClr val="3FB950"/>
                </a:solidFill>
                <a:latin typeface="Calibri" panose="020F0502020204030204"/>
              </a:rPr>
              <a:t>PlantVillage — Healthy vs Diseased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54582" y="2804487"/>
            <a:ext cx="7920673" cy="42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733" i="1" dirty="0">
                <a:solidFill>
                  <a:srgbClr val="8B949E"/>
                </a:solidFill>
                <a:latin typeface="Calibri" panose="020F0502020204030204"/>
              </a:rPr>
              <a:t>Section: Model Training &amp; Architecture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54582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54582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3FB950"/>
                </a:solidFill>
                <a:latin typeface="Calibri" panose="020F0502020204030204"/>
              </a:rPr>
              <a:t>1  Generators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097519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097519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58A6FF"/>
                </a:solidFill>
                <a:latin typeface="Calibri" panose="020F0502020204030204"/>
              </a:rPr>
              <a:t>2  Architecture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340455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FFA657">
              <a:alpha val="25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340455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FFA657"/>
                </a:solidFill>
                <a:latin typeface="Calibri" panose="020F0502020204030204"/>
              </a:rPr>
              <a:t>3  Callbacks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583391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BC8CFF">
              <a:alpha val="25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83391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BC8CFF"/>
                </a:solidFill>
                <a:latin typeface="Calibri" panose="020F0502020204030204"/>
              </a:rPr>
              <a:t>4  Training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826327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FF7B72">
              <a:alpha val="25000"/>
            </a:srgbClr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826327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FF7B72"/>
                </a:solidFill>
                <a:latin typeface="Calibri" panose="020F0502020204030204"/>
              </a:rPr>
              <a:t>5  Visualization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069263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E3B341">
              <a:alpha val="25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069263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E3B341"/>
                </a:solidFill>
                <a:latin typeface="Calibri" panose="020F0502020204030204"/>
              </a:rPr>
              <a:t>6  Evaluation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312200" y="3657481"/>
            <a:ext cx="1157637" cy="365570"/>
          </a:xfrm>
          <a:prstGeom prst="roundRect">
            <a:avLst>
              <a:gd name="adj" fmla="val 20000"/>
            </a:avLst>
          </a:prstGeom>
          <a:solidFill>
            <a:srgbClr val="39D353">
              <a:alpha val="25000"/>
            </a:srgbClr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312200" y="3657481"/>
            <a:ext cx="115763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933" b="1" dirty="0">
                <a:solidFill>
                  <a:srgbClr val="39D353"/>
                </a:solidFill>
                <a:latin typeface="Calibri" panose="020F0502020204030204"/>
              </a:rPr>
              <a:t>7  Comparison</a:t>
            </a:r>
            <a:endParaRPr lang="en-US" sz="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54582" y="6216469"/>
            <a:ext cx="8529957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dirty="0">
                <a:solidFill>
                  <a:srgbClr val="484F58"/>
                </a:solidFill>
                <a:latin typeface="Calibri" panose="020F0502020204030204"/>
              </a:rPr>
              <a:t>ANN Model  •  Python / TensorFlow  •  Binary Classification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157" y="221129"/>
            <a:ext cx="511797" cy="511797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157" y="221129"/>
            <a:ext cx="511797" cy="51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1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7368" y="184572"/>
            <a:ext cx="9139238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2133" b="1" dirty="0">
                <a:solidFill>
                  <a:srgbClr val="F0F6FF"/>
                </a:solidFill>
                <a:latin typeface="Calibri" panose="020F0502020204030204"/>
              </a:rPr>
              <a:t>📦 Create Generators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7366" y="635440"/>
            <a:ext cx="8529957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i="1" dirty="0">
                <a:solidFill>
                  <a:srgbClr val="8B949E"/>
                </a:solidFill>
                <a:latin typeface="Calibri" panose="020F0502020204030204"/>
              </a:rPr>
              <a:t>Batch loading via flow_from_dataframe — no RAM crash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7158" y="1001008"/>
            <a:ext cx="7189534" cy="4691477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7157" y="1001008"/>
            <a:ext cx="304642" cy="4691477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1529" y="1122867"/>
            <a:ext cx="7128606" cy="4508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Reuse the same </a:t>
            </a:r>
            <a:r>
              <a:rPr lang="en-US" sz="1333" dirty="0" err="1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datagens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your original notebook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333" dirty="0" err="1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train_datagen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33" dirty="0" err="1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val_datagen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33" dirty="0" err="1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test_datagen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already have rescale=1./255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r>
              <a:rPr lang="en-US" sz="13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r>
              <a:rPr lang="en-US" sz="13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IMG_SIZE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ann_train_gen = train_datagen.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flow_from_dataframe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dataframe   = train_df,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x_col       = 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image_path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y_col       = 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target_size = </a:t>
            </a:r>
            <a:r>
              <a:rPr lang="en-US" sz="13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IMG_SIZE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  = </a:t>
            </a:r>
            <a:r>
              <a:rPr lang="en-US" sz="13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class_mode  = 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shuffle     =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39475" y="1001010"/>
            <a:ext cx="4082193" cy="243713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476" y="1001010"/>
            <a:ext cx="73114" cy="243713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2260" y="1074123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3FB950"/>
                </a:solidFill>
                <a:latin typeface="Calibri" panose="020F0502020204030204"/>
              </a:rPr>
              <a:t>📂 What it does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22260" y="1366581"/>
            <a:ext cx="3838480" cy="199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Reuses datagens from preprocessing nb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Sets BATCH=32, IMG_SIZE=(128,128)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Loads images lazily (batch-by-batch)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No RAM overflow risk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Binary class_mode: 0=healthy, 1=diseased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39475" y="3596554"/>
            <a:ext cx="4082193" cy="2132489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39476" y="3596554"/>
            <a:ext cx="73114" cy="2132489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22260" y="3669667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58A6FF"/>
                </a:solidFill>
                <a:latin typeface="Calibri" panose="020F0502020204030204"/>
              </a:rPr>
              <a:t>🔑 Parameters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2260" y="3962123"/>
            <a:ext cx="3838480" cy="1693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dataframe   →  train_df / val_df / test_df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x_col       →  'image_path'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y_col       →  'label'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target_size →  (128,128)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class_mode  →  'binary'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39475" y="5875271"/>
            <a:ext cx="1949704" cy="341198"/>
          </a:xfrm>
          <a:prstGeom prst="roundRect">
            <a:avLst>
              <a:gd name="adj" fmla="val 21429"/>
            </a:avLst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39475" y="5875271"/>
            <a:ext cx="1949704" cy="341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1200" b="1" dirty="0">
                <a:solidFill>
                  <a:srgbClr val="3FB950"/>
                </a:solidFill>
                <a:latin typeface="Calibri" panose="020F0502020204030204"/>
              </a:rPr>
              <a:t>Step 1 of 7  •  Data Loaders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157" y="221129"/>
            <a:ext cx="511797" cy="511797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157" y="221129"/>
            <a:ext cx="511797" cy="51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1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7368" y="184572"/>
            <a:ext cx="9139238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2133" b="1" dirty="0">
                <a:solidFill>
                  <a:srgbClr val="F0F6FF"/>
                </a:solidFill>
                <a:latin typeface="Calibri" panose="020F0502020204030204"/>
              </a:rPr>
              <a:t>📦 Create Generators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7366" y="635440"/>
            <a:ext cx="8529957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i="1" dirty="0">
                <a:solidFill>
                  <a:srgbClr val="8B949E"/>
                </a:solidFill>
                <a:latin typeface="Calibri" panose="020F0502020204030204"/>
              </a:rPr>
              <a:t>Validation and Test generators — shuffle=False for correct evaluation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7158" y="1001010"/>
            <a:ext cx="7189534" cy="548354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7157" y="1001010"/>
            <a:ext cx="304642" cy="548354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1529" y="1122866"/>
            <a:ext cx="7128606" cy="5300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ann_val_gen = val_datagen.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flow_from_dataframe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dataframe   = val_df,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x_col       = 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image_path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y_col       = 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target_size = </a:t>
            </a:r>
            <a:r>
              <a:rPr lang="en-US" sz="13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IMG_SIZE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  = </a:t>
            </a:r>
            <a:r>
              <a:rPr lang="en-US" sz="13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class_mode  = 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shuffle     =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ann_test_gen = test_datagen.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flow_from_dataframe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dataframe   = test_df,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x_col       = 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image_path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y_col       = 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target_size = </a:t>
            </a:r>
            <a:r>
              <a:rPr lang="en-US" sz="13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IMG_SIZE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  = </a:t>
            </a:r>
            <a:r>
              <a:rPr lang="en-US" sz="13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class_mode  = 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shuffle     =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Generators ready ✓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39475" y="1001008"/>
            <a:ext cx="4082193" cy="2193418"/>
          </a:xfrm>
          <a:prstGeom prst="rect">
            <a:avLst/>
          </a:prstGeom>
          <a:solidFill>
            <a:srgbClr val="21262D"/>
          </a:solidFill>
          <a:ln w="1905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476" y="1001008"/>
            <a:ext cx="73114" cy="219341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2260" y="1074123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FFA657"/>
                </a:solidFill>
                <a:latin typeface="Calibri" panose="020F0502020204030204"/>
              </a:rPr>
              <a:t>⚠️ Why shuffle=False?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22260" y="1366579"/>
            <a:ext cx="3838480" cy="1754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Val &amp; Test generators must NOT shuffle.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Prediction order must match y_true order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for confusion matrix &amp; classification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report to be correct.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39475" y="3352840"/>
            <a:ext cx="4082193" cy="243713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39476" y="3352840"/>
            <a:ext cx="73114" cy="243713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22260" y="3425955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3FB950"/>
                </a:solidFill>
                <a:latin typeface="Calibri" panose="020F0502020204030204"/>
              </a:rPr>
              <a:t>📊 Generator Output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2260" y="3718411"/>
            <a:ext cx="3838480" cy="199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ann_train_gen  →  training batches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ann_val_gen    →  validation batches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ann_test_gen   →  test batches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All generators: 128×128×3 RGB images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rescaled to [0,1] range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39475" y="5911827"/>
            <a:ext cx="1949704" cy="341198"/>
          </a:xfrm>
          <a:prstGeom prst="roundRect">
            <a:avLst>
              <a:gd name="adj" fmla="val 21429"/>
            </a:avLst>
          </a:prstGeom>
          <a:solidFill>
            <a:srgbClr val="3FB950">
              <a:alpha val="25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39475" y="5911827"/>
            <a:ext cx="1949704" cy="341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1200" b="1" dirty="0">
                <a:solidFill>
                  <a:srgbClr val="3FB950"/>
                </a:solidFill>
                <a:latin typeface="Calibri" panose="020F0502020204030204"/>
              </a:rPr>
              <a:t>Step 1 of 7  •  Data Loaders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157" y="221129"/>
            <a:ext cx="511797" cy="511797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157" y="221129"/>
            <a:ext cx="511797" cy="51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2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7368" y="184572"/>
            <a:ext cx="9139238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2133" b="1" dirty="0">
                <a:solidFill>
                  <a:srgbClr val="F0F6FF"/>
                </a:solidFill>
                <a:latin typeface="Calibri" panose="020F0502020204030204"/>
              </a:rPr>
              <a:t>🧠 Build the ANN Model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7367" y="635440"/>
            <a:ext cx="10723373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i="1" dirty="0">
                <a:solidFill>
                  <a:srgbClr val="8B949E"/>
                </a:solidFill>
                <a:latin typeface="Calibri" panose="020F0502020204030204"/>
              </a:rPr>
              <a:t>Flatten layer is INSIDE the model — images flattened batch-by-batch on GPU, never all at once in RAM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7158" y="1001010"/>
            <a:ext cx="7189534" cy="548354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7157" y="1001010"/>
            <a:ext cx="304642" cy="548354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1529" y="1122866"/>
            <a:ext cx="7128606" cy="5300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keras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Sequential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keras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Dense, Dropout,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Flatten, Input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keras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Adam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Sequential(name=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ANN_PlantVillage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Flatten 128x128x3 image -&gt; 49152 vector (done inside model, per batch)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(Input(shape=(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(Flatten())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Hidden layer 1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(Dense(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(Dropout(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Hidden layer 2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(Dense(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BatchNormalization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r>
              <a:rPr lang="en-US" sz="1333" dirty="0" err="1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(Dropout(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39475" y="1037565"/>
            <a:ext cx="4021265" cy="974853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476" y="1037565"/>
            <a:ext cx="73114" cy="974853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83188" y="1074123"/>
            <a:ext cx="3655696" cy="3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b="1" dirty="0">
                <a:solidFill>
                  <a:srgbClr val="58A6FF"/>
                </a:solidFill>
                <a:latin typeface="Calibri" panose="020F0502020204030204"/>
              </a:rPr>
              <a:t>Input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83188" y="1439694"/>
            <a:ext cx="3655696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128×128×3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750108" y="2012419"/>
            <a:ext cx="0" cy="304642"/>
          </a:xfrm>
          <a:prstGeom prst="line">
            <a:avLst/>
          </a:prstGeom>
          <a:noFill/>
          <a:ln w="19050">
            <a:solidFill>
              <a:srgbClr val="484F58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39475" y="2377987"/>
            <a:ext cx="4021265" cy="974853"/>
          </a:xfrm>
          <a:prstGeom prst="rect">
            <a:avLst/>
          </a:prstGeom>
          <a:solidFill>
            <a:srgbClr val="21262D"/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39476" y="2377987"/>
            <a:ext cx="73114" cy="974853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83188" y="2414546"/>
            <a:ext cx="3655696" cy="3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b="1" dirty="0">
                <a:solidFill>
                  <a:srgbClr val="BC8CFF"/>
                </a:solidFill>
                <a:latin typeface="Calibri" panose="020F0502020204030204"/>
              </a:rPr>
              <a:t>Flatten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83188" y="2780115"/>
            <a:ext cx="3655696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49,152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750108" y="3352840"/>
            <a:ext cx="0" cy="304642"/>
          </a:xfrm>
          <a:prstGeom prst="line">
            <a:avLst/>
          </a:prstGeom>
          <a:noFill/>
          <a:ln w="19050">
            <a:solidFill>
              <a:srgbClr val="484F58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739475" y="3718410"/>
            <a:ext cx="4021265" cy="974853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39476" y="3718410"/>
            <a:ext cx="73114" cy="974853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83188" y="3754966"/>
            <a:ext cx="3655696" cy="3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b="1" dirty="0">
                <a:solidFill>
                  <a:srgbClr val="3FB950"/>
                </a:solidFill>
                <a:latin typeface="Calibri" panose="020F0502020204030204"/>
              </a:rPr>
              <a:t>Dense 512 + BN + Drop(0.4)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83188" y="4120537"/>
            <a:ext cx="3655696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ReLU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750108" y="4693262"/>
            <a:ext cx="0" cy="304642"/>
          </a:xfrm>
          <a:prstGeom prst="line">
            <a:avLst/>
          </a:prstGeom>
          <a:noFill/>
          <a:ln w="19050">
            <a:solidFill>
              <a:srgbClr val="484F58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39475" y="5058830"/>
            <a:ext cx="4021265" cy="974853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739476" y="5058830"/>
            <a:ext cx="73114" cy="974853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983188" y="5095387"/>
            <a:ext cx="3655696" cy="3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b="1" dirty="0">
                <a:solidFill>
                  <a:srgbClr val="3FB950"/>
                </a:solidFill>
                <a:latin typeface="Calibri" panose="020F0502020204030204"/>
              </a:rPr>
              <a:t>Dense 256 + BN + Drop(0.4)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83188" y="5460958"/>
            <a:ext cx="3655696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066" dirty="0">
                <a:solidFill>
                  <a:srgbClr val="8B949E"/>
                </a:solidFill>
                <a:latin typeface="Calibri" panose="020F0502020204030204"/>
              </a:rPr>
              <a:t>ReLU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39475" y="6216469"/>
            <a:ext cx="1949704" cy="341198"/>
          </a:xfrm>
          <a:prstGeom prst="roundRect">
            <a:avLst>
              <a:gd name="adj" fmla="val 21429"/>
            </a:avLst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39475" y="6216469"/>
            <a:ext cx="1949704" cy="341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1200" b="1" dirty="0">
                <a:solidFill>
                  <a:srgbClr val="58A6FF"/>
                </a:solidFill>
                <a:latin typeface="Calibri" panose="020F0502020204030204"/>
              </a:rPr>
              <a:t>Step 2 of 7  •  Architecture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157" y="221129"/>
            <a:ext cx="511797" cy="511797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157" y="221129"/>
            <a:ext cx="511797" cy="51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2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7368" y="184572"/>
            <a:ext cx="9139238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2133" b="1" dirty="0">
                <a:solidFill>
                  <a:srgbClr val="F0F6FF"/>
                </a:solidFill>
                <a:latin typeface="Calibri" panose="020F0502020204030204"/>
              </a:rPr>
              <a:t>🧠 Build the ANN Model (continued)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7366" y="635440"/>
            <a:ext cx="8529957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i="1" dirty="0">
                <a:solidFill>
                  <a:srgbClr val="8B949E"/>
                </a:solidFill>
                <a:latin typeface="Calibri" panose="020F0502020204030204"/>
              </a:rPr>
              <a:t>Hidden layers 3 &amp; 4 + Output layer + Compile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7158" y="1001010"/>
            <a:ext cx="7189534" cy="5483542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7157" y="1001010"/>
            <a:ext cx="304642" cy="548354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1529" y="1122866"/>
            <a:ext cx="7128606" cy="5300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Hidden layer 3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(Dense(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(BatchNormalization())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(Dropout(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Hidden layer 4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(Dense(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(Dropout(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(Dense(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activation=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sigmoid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 = Adam(learning_rate=1e-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     = 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binary_crossentropy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   = [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39475" y="1037565"/>
            <a:ext cx="4021265" cy="913925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476" y="1037565"/>
            <a:ext cx="73114" cy="913925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83188" y="1159424"/>
            <a:ext cx="3655696" cy="48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b="1" dirty="0">
                <a:solidFill>
                  <a:srgbClr val="3FB950"/>
                </a:solidFill>
                <a:latin typeface="Calibri" panose="020F0502020204030204"/>
              </a:rPr>
              <a:t>Dense 128 + BN + Drop(0.3)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750108" y="1951491"/>
            <a:ext cx="0" cy="304642"/>
          </a:xfrm>
          <a:prstGeom prst="line">
            <a:avLst/>
          </a:prstGeom>
          <a:noFill/>
          <a:ln w="19050">
            <a:solidFill>
              <a:srgbClr val="484F58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39475" y="2256131"/>
            <a:ext cx="4021265" cy="913925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39476" y="2256131"/>
            <a:ext cx="73114" cy="913925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83188" y="2377989"/>
            <a:ext cx="3655696" cy="48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b="1" dirty="0">
                <a:solidFill>
                  <a:srgbClr val="3FB950"/>
                </a:solidFill>
                <a:latin typeface="Calibri" panose="020F0502020204030204"/>
              </a:rPr>
              <a:t>Dense 64 + Drop(0.3)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750108" y="3170056"/>
            <a:ext cx="0" cy="304642"/>
          </a:xfrm>
          <a:prstGeom prst="line">
            <a:avLst/>
          </a:prstGeom>
          <a:noFill/>
          <a:ln w="19050">
            <a:solidFill>
              <a:srgbClr val="484F58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39475" y="3474696"/>
            <a:ext cx="4021265" cy="913925"/>
          </a:xfrm>
          <a:prstGeom prst="rect">
            <a:avLst/>
          </a:prstGeom>
          <a:solidFill>
            <a:srgbClr val="21262D"/>
          </a:solidFill>
          <a:ln w="1905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39476" y="3474696"/>
            <a:ext cx="73114" cy="913925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83188" y="3596553"/>
            <a:ext cx="3655696" cy="48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b="1" dirty="0">
                <a:solidFill>
                  <a:srgbClr val="FFA657"/>
                </a:solidFill>
                <a:latin typeface="Calibri" panose="020F0502020204030204"/>
              </a:rPr>
              <a:t>Dense 1  →  sigmoid  (Output)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39475" y="3840266"/>
            <a:ext cx="4082193" cy="2558987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39476" y="3840266"/>
            <a:ext cx="73114" cy="2558987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22260" y="3913381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58A6FF"/>
                </a:solidFill>
                <a:latin typeface="Calibri" panose="020F0502020204030204"/>
              </a:rPr>
              <a:t>🔧 Compile Settings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922260" y="4205835"/>
            <a:ext cx="3838480" cy="212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Optimizer :  Adam  (lr = 0.001)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Loss      :  binary_crossentropy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Metrics   :  accuracy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Adam adapts LR per parameter.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Binary crossentropy for 0/1 labels.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39475" y="6521110"/>
            <a:ext cx="1949704" cy="341198"/>
          </a:xfrm>
          <a:prstGeom prst="roundRect">
            <a:avLst>
              <a:gd name="adj" fmla="val 21429"/>
            </a:avLst>
          </a:prstGeom>
          <a:solidFill>
            <a:srgbClr val="58A6FF">
              <a:alpha val="25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39475" y="6521110"/>
            <a:ext cx="1949704" cy="341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1200" b="1" dirty="0">
                <a:solidFill>
                  <a:srgbClr val="58A6FF"/>
                </a:solidFill>
                <a:latin typeface="Calibri" panose="020F0502020204030204"/>
              </a:rPr>
              <a:t>Step 2 of 7  •  Architecture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157" y="221129"/>
            <a:ext cx="511797" cy="511797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157" y="221129"/>
            <a:ext cx="511797" cy="51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3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7368" y="184572"/>
            <a:ext cx="9139238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2133" b="1" dirty="0">
                <a:solidFill>
                  <a:srgbClr val="F0F6FF"/>
                </a:solidFill>
                <a:latin typeface="Calibri" panose="020F0502020204030204"/>
              </a:rPr>
              <a:t>⚙️ Callbacks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7367" y="635440"/>
            <a:ext cx="10723373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i="1" dirty="0">
                <a:solidFill>
                  <a:srgbClr val="8B949E"/>
                </a:solidFill>
                <a:latin typeface="Calibri" panose="020F0502020204030204"/>
              </a:rPr>
              <a:t>EarlyStopping + ReduceLROnPlateau + ModelCheckpoint — prevent overfitting and save best model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7158" y="1001009"/>
            <a:ext cx="7189534" cy="5605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7157" y="1001009"/>
            <a:ext cx="304642" cy="5605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1529" y="1122866"/>
            <a:ext cx="7128606" cy="542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tensorflow.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keras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EarlyStopping, ReduceLROnPlateau, ModelCheckpoint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ann_callbacks = [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EarlyStopping(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monitor=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val_accuracy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patience=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restore_best_weights=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verbose=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ReduceLROnPlateau(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monitor=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val_loss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factor=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patience=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min_lr=1e-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verbose=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ModelCheckpoint(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h5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monitor=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val_accuracy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save_best_only=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verbose=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Callbacks ready ✓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39475" y="1001011"/>
            <a:ext cx="4082193" cy="2071560"/>
          </a:xfrm>
          <a:prstGeom prst="rect">
            <a:avLst/>
          </a:prstGeom>
          <a:solidFill>
            <a:srgbClr val="21262D"/>
          </a:solidFill>
          <a:ln w="1905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476" y="1001011"/>
            <a:ext cx="73114" cy="207156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2260" y="1074123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FFA657"/>
                </a:solidFill>
                <a:latin typeface="Calibri" panose="020F0502020204030204"/>
              </a:rPr>
              <a:t>🛑 EarlyStopping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22260" y="1366579"/>
            <a:ext cx="3838480" cy="163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monitor : val_accuracy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patience : 5 epochs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restore_best_weights : True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Stops if no improvement for 5 epochs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Reverts to best-seen weights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39475" y="3230984"/>
            <a:ext cx="4082193" cy="2071560"/>
          </a:xfrm>
          <a:prstGeom prst="rect">
            <a:avLst/>
          </a:prstGeom>
          <a:solidFill>
            <a:srgbClr val="21262D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39476" y="3230984"/>
            <a:ext cx="73114" cy="20715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22260" y="3304097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E3B341"/>
                </a:solidFill>
                <a:latin typeface="Calibri" panose="020F0502020204030204"/>
              </a:rPr>
              <a:t>📉 ReduceLROnPlateau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2260" y="3596555"/>
            <a:ext cx="3838480" cy="163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monitor : val_loss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factor  : 0.5  (halves LR)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patience: 3 epochs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min_lr  : 1e-6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Cuts LR when loss stalls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39475" y="5448771"/>
            <a:ext cx="4082193" cy="1218565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39476" y="5448771"/>
            <a:ext cx="73114" cy="1218565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22260" y="5521887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58A6FF"/>
                </a:solidFill>
                <a:latin typeface="Calibri" panose="020F0502020204030204"/>
              </a:rPr>
              <a:t>💾 ModelCheckpoint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22260" y="5814341"/>
            <a:ext cx="3838480" cy="77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saves: 'best_ann_model.h5'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monitor: val_accuracy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save_best_only: True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Keeps only best epoch on disk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157" y="221129"/>
            <a:ext cx="511797" cy="511797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157" y="221129"/>
            <a:ext cx="511797" cy="51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4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7368" y="184572"/>
            <a:ext cx="9139238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2133" b="1" dirty="0">
                <a:solidFill>
                  <a:srgbClr val="F0F6FF"/>
                </a:solidFill>
                <a:latin typeface="Calibri" panose="020F0502020204030204"/>
              </a:rPr>
              <a:t>🚀 Train the ANN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7368" y="635440"/>
            <a:ext cx="10357803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i="1" dirty="0">
                <a:solidFill>
                  <a:srgbClr val="8B949E"/>
                </a:solidFill>
                <a:latin typeface="Calibri" panose="020F0502020204030204"/>
              </a:rPr>
              <a:t>model.fit() — feeds batches from generator for up to 30 epochs with callbacks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7158" y="1031475"/>
            <a:ext cx="7189534" cy="2680844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7157" y="1001009"/>
            <a:ext cx="304642" cy="26808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1529" y="1122866"/>
            <a:ext cx="7128606" cy="249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ann_history = 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ann_train_gen,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validation_data = ann_val_gen,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          = 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callbacks       = ann_callbacks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39475" y="1001011"/>
            <a:ext cx="4082193" cy="3046413"/>
          </a:xfrm>
          <a:prstGeom prst="rect">
            <a:avLst/>
          </a:prstGeom>
          <a:solidFill>
            <a:srgbClr val="21262D"/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476" y="1001011"/>
            <a:ext cx="73114" cy="3046413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2260" y="1074123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BC8CFF"/>
                </a:solidFill>
                <a:latin typeface="Calibri" panose="020F0502020204030204"/>
              </a:rPr>
              <a:t>📋 fit() Parameters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22260" y="1366579"/>
            <a:ext cx="3838480" cy="260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ann_train_gen  → training data generator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validation_data→ ann_val_gen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epochs         → 30 (max, may stop early)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callbacks      → ann_callbacks list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Returns: History object with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 accuracy, val_accuracy, loss, val_loss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0870" y="3901195"/>
            <a:ext cx="6702109" cy="341198"/>
          </a:xfrm>
          <a:prstGeom prst="rect">
            <a:avLst/>
          </a:prstGeom>
          <a:solidFill>
            <a:srgbClr val="21262D"/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0870" y="3901195"/>
            <a:ext cx="48742" cy="34119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654" y="3925566"/>
            <a:ext cx="6336539" cy="29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1.  Epoch starts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0870" y="4303322"/>
            <a:ext cx="6702109" cy="341198"/>
          </a:xfrm>
          <a:prstGeom prst="rect">
            <a:avLst/>
          </a:prstGeom>
          <a:solidFill>
            <a:srgbClr val="21262D"/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0870" y="4303322"/>
            <a:ext cx="48742" cy="34119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654" y="4327693"/>
            <a:ext cx="6336539" cy="29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2.  Batch from train_gen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0870" y="4705448"/>
            <a:ext cx="6702109" cy="341198"/>
          </a:xfrm>
          <a:prstGeom prst="rect">
            <a:avLst/>
          </a:prstGeom>
          <a:solidFill>
            <a:srgbClr val="21262D"/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0870" y="4705448"/>
            <a:ext cx="48742" cy="34119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3654" y="4729819"/>
            <a:ext cx="6336539" cy="29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3.  Forward pass → loss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0870" y="5107575"/>
            <a:ext cx="6702109" cy="341198"/>
          </a:xfrm>
          <a:prstGeom prst="rect">
            <a:avLst/>
          </a:prstGeom>
          <a:solidFill>
            <a:srgbClr val="21262D"/>
          </a:solidFill>
          <a:ln w="1016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0870" y="5107575"/>
            <a:ext cx="48742" cy="34119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3654" y="5131945"/>
            <a:ext cx="6336539" cy="29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4.  Backprop → update weights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0870" y="5509701"/>
            <a:ext cx="6702109" cy="341198"/>
          </a:xfrm>
          <a:prstGeom prst="rect">
            <a:avLst/>
          </a:prstGeom>
          <a:solidFill>
            <a:srgbClr val="21262D"/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10870" y="5509701"/>
            <a:ext cx="48742" cy="34119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3654" y="5534071"/>
            <a:ext cx="6336539" cy="29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5.  Validate on val_gen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0870" y="5911827"/>
            <a:ext cx="6702109" cy="341198"/>
          </a:xfrm>
          <a:prstGeom prst="rect">
            <a:avLst/>
          </a:prstGeom>
          <a:solidFill>
            <a:srgbClr val="21262D"/>
          </a:solidFill>
          <a:ln w="10160">
            <a:solidFill>
              <a:srgbClr val="FF7B72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0870" y="5911827"/>
            <a:ext cx="48742" cy="34119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3654" y="5936198"/>
            <a:ext cx="6336539" cy="29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6.  Callbacks check metrics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0870" y="6313954"/>
            <a:ext cx="6702109" cy="341198"/>
          </a:xfrm>
          <a:prstGeom prst="rect">
            <a:avLst/>
          </a:prstGeom>
          <a:solidFill>
            <a:srgbClr val="21262D"/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0870" y="6313954"/>
            <a:ext cx="48742" cy="34119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3654" y="6338325"/>
            <a:ext cx="6336539" cy="29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7.  Next epoch or early stop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739475" y="4205837"/>
            <a:ext cx="4082193" cy="243713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739476" y="4205837"/>
            <a:ext cx="73114" cy="243713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922260" y="4278950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3FB950"/>
                </a:solidFill>
                <a:latin typeface="Calibri" panose="020F0502020204030204"/>
              </a:rPr>
              <a:t>💡 History Object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922260" y="4571406"/>
            <a:ext cx="3838480" cy="199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ann_history.history keys: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  'accuracy'     train acc per epoch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  'val_accuracy' val acc per epoch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  'loss'         train loss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  'val_loss'     validation loss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739475" y="6764824"/>
            <a:ext cx="1949704" cy="341198"/>
          </a:xfrm>
          <a:prstGeom prst="roundRect">
            <a:avLst>
              <a:gd name="adj" fmla="val 21429"/>
            </a:avLst>
          </a:prstGeom>
          <a:solidFill>
            <a:srgbClr val="BC8CFF">
              <a:alpha val="25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739475" y="6764824"/>
            <a:ext cx="1949704" cy="341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1200" b="1" dirty="0">
                <a:solidFill>
                  <a:srgbClr val="BC8CFF"/>
                </a:solidFill>
                <a:latin typeface="Calibri" panose="020F0502020204030204"/>
              </a:rPr>
              <a:t>Step 4 of 7  •  Training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157" y="221129"/>
            <a:ext cx="511797" cy="511797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157" y="221129"/>
            <a:ext cx="511797" cy="51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5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7368" y="184572"/>
            <a:ext cx="9139238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2133" b="1" dirty="0">
                <a:solidFill>
                  <a:srgbClr val="F0F6FF"/>
                </a:solidFill>
                <a:latin typeface="Calibri" panose="020F0502020204030204"/>
              </a:rPr>
              <a:t>📊 Plot Training History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7368" y="635440"/>
            <a:ext cx="10357803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i="1" dirty="0">
                <a:solidFill>
                  <a:srgbClr val="8B949E"/>
                </a:solidFill>
                <a:latin typeface="Calibri" panose="020F0502020204030204"/>
              </a:rPr>
              <a:t>Side-by-side Accuracy and Loss curves — diagnose overfitting/underfitting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7158" y="1001009"/>
            <a:ext cx="7189534" cy="56054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7157" y="1001009"/>
            <a:ext cx="304642" cy="5605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1529" y="1122866"/>
            <a:ext cx="7128606" cy="542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pyplot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figsize=(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(ann_history.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    label=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(ann_history.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val_accuracy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label=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set_title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Accuracy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set_xlabel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set_ylabel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(ann_history.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    label=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(ann_history.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val_loss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label=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set_title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Loss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set_xlabel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set_ylabel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tight_layout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39475" y="1001010"/>
            <a:ext cx="4082193" cy="2437130"/>
          </a:xfrm>
          <a:prstGeom prst="rect">
            <a:avLst/>
          </a:prstGeom>
          <a:solidFill>
            <a:srgbClr val="21262D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476" y="1001010"/>
            <a:ext cx="73114" cy="243713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2260" y="1074123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E3B341"/>
                </a:solidFill>
                <a:latin typeface="Calibri" panose="020F0502020204030204"/>
              </a:rPr>
              <a:t>📈 Accuracy Plot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22260" y="1366581"/>
            <a:ext cx="3838480" cy="199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X-axis : Epoch number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Y-axis : Accuracy (0 → 1)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Train  : solid line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Val    : dashed line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Gap = overfitting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Both rising = learning well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39475" y="3596553"/>
            <a:ext cx="4082193" cy="2437130"/>
          </a:xfrm>
          <a:prstGeom prst="rect">
            <a:avLst/>
          </a:prstGeom>
          <a:solidFill>
            <a:srgbClr val="21262D"/>
          </a:solidFill>
          <a:ln w="1905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39476" y="3596553"/>
            <a:ext cx="73114" cy="243713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22260" y="3669667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FFA657"/>
                </a:solidFill>
                <a:latin typeface="Calibri" panose="020F0502020204030204"/>
              </a:rPr>
              <a:t>📉 Loss Plot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2260" y="3962123"/>
            <a:ext cx="3838480" cy="199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X-axis : Epoch number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Y-axis : Binary cross-entropy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Train  : decreasing = learning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Val    : should track train loss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Val rising = overfitting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→  Both flat = stopped learning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39475" y="6155539"/>
            <a:ext cx="4082193" cy="1035781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39476" y="6155539"/>
            <a:ext cx="73114" cy="1035781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22260" y="6228654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58A6FF"/>
                </a:solidFill>
                <a:latin typeface="Calibri" panose="020F0502020204030204"/>
              </a:rPr>
              <a:t>💡 plt.subplots(1, 2)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22260" y="6521110"/>
            <a:ext cx="3838480" cy="59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Creates 1 row × 2 column figure.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axes[0] = accuracy,  axes[1] = loss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figsize=(14,5) gives wide layout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157" y="221129"/>
            <a:ext cx="511797" cy="511797"/>
          </a:xfrm>
          <a:prstGeom prst="ellipse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157" y="221129"/>
            <a:ext cx="511797" cy="51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6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7368" y="184572"/>
            <a:ext cx="9139238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2133" b="1" dirty="0">
                <a:solidFill>
                  <a:srgbClr val="F0F6FF"/>
                </a:solidFill>
                <a:latin typeface="Calibri" panose="020F0502020204030204"/>
              </a:rPr>
              <a:t>🧪 Evaluate on Test Set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7368" y="635440"/>
            <a:ext cx="9748521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i="1" dirty="0">
                <a:solidFill>
                  <a:srgbClr val="8B949E"/>
                </a:solidFill>
                <a:latin typeface="Calibri" panose="020F0502020204030204"/>
              </a:rPr>
              <a:t>Loss, Accuracy, Classification Report &amp; Confusion Matrix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7158" y="1001010"/>
            <a:ext cx="7189534" cy="4996117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7157" y="1001010"/>
            <a:ext cx="304642" cy="4996117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1529" y="1122866"/>
            <a:ext cx="7128606" cy="481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classification_report, confusion_matrix, ConfusionMatrixDisplay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Loss &amp; Accuracy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test_loss, test_acc = 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(ann_test_gen, verbose=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Loss     : {test_loss:.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4f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Accuracy : {test_acc:.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4f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ann_test_gen.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y_pred_prob = ann_model.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(ann_test_gen).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ravel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     = (y_pred_prob &gt;= 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y_true      = ann_test_gen.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class_names = list(ann_test_gen.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class_indices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\nClassification Report: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(classification_report(y_true, y_pred, target_names=class_names))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39475" y="1001009"/>
            <a:ext cx="4082193" cy="2680844"/>
          </a:xfrm>
          <a:prstGeom prst="rect">
            <a:avLst/>
          </a:prstGeom>
          <a:solidFill>
            <a:srgbClr val="21262D"/>
          </a:solidFill>
          <a:ln w="19050">
            <a:solidFill>
              <a:srgbClr val="FF7B72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39476" y="1001009"/>
            <a:ext cx="73114" cy="268084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2260" y="1074123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FF7B72"/>
                </a:solidFill>
                <a:latin typeface="Calibri" panose="020F0502020204030204"/>
              </a:rPr>
              <a:t>🔢 Key steps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22260" y="1366579"/>
            <a:ext cx="3838480" cy="224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1. evaluate() → loss &amp; accuracy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2. reset() generator before predict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3. predict() → sigmoid probabilities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4. threshold 0.5 → binary classes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5. .classes → true labels (ordered)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6. classification_report() → P/R/F1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39475" y="3840266"/>
            <a:ext cx="4082193" cy="2193418"/>
          </a:xfrm>
          <a:prstGeom prst="rect">
            <a:avLst/>
          </a:prstGeom>
          <a:solidFill>
            <a:srgbClr val="21262D"/>
          </a:solidFill>
          <a:ln w="1905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39476" y="3840266"/>
            <a:ext cx="73114" cy="2193418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22260" y="3913381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FFA657"/>
                </a:solidFill>
                <a:latin typeface="Calibri" panose="020F0502020204030204"/>
              </a:rPr>
              <a:t>⚠️ Why reset() before predict?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2260" y="4205835"/>
            <a:ext cx="3838480" cy="1754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Generator keeps an internal pointer.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After evaluate(), pointer may be mid-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stream. reset() ensures predictions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start from image index 0 — matching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y_true = ann_test_gen.classes order.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39475" y="6155539"/>
            <a:ext cx="4082193" cy="1035781"/>
          </a:xfrm>
          <a:prstGeom prst="rect">
            <a:avLst/>
          </a:prstGeom>
          <a:solidFill>
            <a:srgbClr val="21262D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39476" y="6155539"/>
            <a:ext cx="73114" cy="1035781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22260" y="6228654"/>
            <a:ext cx="3838480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b="1" dirty="0">
                <a:solidFill>
                  <a:srgbClr val="E3B341"/>
                </a:solidFill>
                <a:latin typeface="Calibri" panose="020F0502020204030204"/>
              </a:rPr>
              <a:t>📊 Threshold Logic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22260" y="6521110"/>
            <a:ext cx="3838480" cy="59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(y_pred_prob &gt;= 0.5).astype(int)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sigmoid output ≥ 0.5  → class 1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sigmoid output  &lt; 0.5 → class 0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157" y="221129"/>
            <a:ext cx="511797" cy="511797"/>
          </a:xfrm>
          <a:prstGeom prst="ellipse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157" y="221129"/>
            <a:ext cx="511797" cy="51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133" b="1" dirty="0">
                <a:solidFill>
                  <a:srgbClr val="000000"/>
                </a:solidFill>
                <a:latin typeface="Calibri" panose="020F0502020204030204"/>
              </a:rPr>
              <a:t>6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37368" y="184572"/>
            <a:ext cx="9139238" cy="46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2133" b="1" dirty="0">
                <a:solidFill>
                  <a:srgbClr val="F0F6FF"/>
                </a:solidFill>
                <a:latin typeface="Calibri" panose="020F0502020204030204"/>
              </a:rPr>
              <a:t>🧪 Evaluate — Confusion Matrix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37368" y="635440"/>
            <a:ext cx="9748521" cy="30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333" i="1" dirty="0">
                <a:solidFill>
                  <a:srgbClr val="8B949E"/>
                </a:solidFill>
                <a:latin typeface="Calibri" panose="020F0502020204030204"/>
              </a:rPr>
              <a:t>Visual confusion matrix using ConfusionMatrixDisplay with Blues colormap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7158" y="1001009"/>
            <a:ext cx="7189534" cy="2680844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7157" y="1001009"/>
            <a:ext cx="304642" cy="268084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1529" y="1122866"/>
            <a:ext cx="7128606" cy="249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Confusion Matrix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   = confusion_matrix(y_true, y_pred)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 = ConfusionMatrixDisplay(confusion_matrix=cm, display_labels=class_names)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subplots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(figsize=(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(ax=ax, colorbar=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cmap=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Blues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set_title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Confusion Matrix (Test Set)</a:t>
            </a:r>
            <a:r>
              <a:rPr lang="en-US" sz="13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tight_layout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8590"/>
            <a:r>
              <a:rPr lang="en-US" sz="1333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r>
              <a:rPr lang="en-US" sz="1333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65973" y="4083979"/>
            <a:ext cx="1827848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1066" b="1" dirty="0">
                <a:solidFill>
                  <a:srgbClr val="8B949E"/>
                </a:solidFill>
                <a:latin typeface="Calibri" panose="020F0502020204030204"/>
              </a:rPr>
              <a:t>Predicted: Healthy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115677" y="4083979"/>
            <a:ext cx="1827848" cy="36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1066" b="1" dirty="0">
                <a:solidFill>
                  <a:srgbClr val="8B949E"/>
                </a:solidFill>
                <a:latin typeface="Calibri" panose="020F0502020204030204"/>
              </a:rPr>
              <a:t>Predicted: Diseased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39477" y="4510475"/>
            <a:ext cx="1584134" cy="974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590"/>
            <a:r>
              <a:rPr lang="en-US" sz="1066" b="1" dirty="0">
                <a:solidFill>
                  <a:srgbClr val="8B949E"/>
                </a:solidFill>
                <a:latin typeface="Calibri" panose="020F0502020204030204"/>
              </a:rPr>
              <a:t>Actual: Healthy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384538" y="4486105"/>
            <a:ext cx="1035781" cy="999224"/>
          </a:xfrm>
          <a:prstGeom prst="rect">
            <a:avLst/>
          </a:prstGeom>
          <a:solidFill>
            <a:srgbClr val="3FB950">
              <a:alpha val="25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384538" y="4486105"/>
            <a:ext cx="1035781" cy="99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933" b="1" dirty="0">
                <a:solidFill>
                  <a:srgbClr val="3FB950"/>
                </a:solidFill>
                <a:latin typeface="Calibri" panose="020F0502020204030204"/>
              </a:rPr>
              <a:t>TP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481247" y="4486105"/>
            <a:ext cx="1035781" cy="999224"/>
          </a:xfrm>
          <a:prstGeom prst="rect">
            <a:avLst/>
          </a:prstGeom>
          <a:solidFill>
            <a:srgbClr val="FF7B72">
              <a:alpha val="25000"/>
            </a:srgbClr>
          </a:solidFill>
          <a:ln w="19050">
            <a:solidFill>
              <a:srgbClr val="FF7B72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81247" y="4486105"/>
            <a:ext cx="1035781" cy="99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933" b="1" dirty="0">
                <a:solidFill>
                  <a:srgbClr val="FF7B72"/>
                </a:solidFill>
                <a:latin typeface="Calibri" panose="020F0502020204030204"/>
              </a:rPr>
              <a:t>FN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39477" y="5607184"/>
            <a:ext cx="1584134" cy="974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8590"/>
            <a:r>
              <a:rPr lang="en-US" sz="1066" b="1" dirty="0">
                <a:solidFill>
                  <a:srgbClr val="8B949E"/>
                </a:solidFill>
                <a:latin typeface="Calibri" panose="020F0502020204030204"/>
              </a:rPr>
              <a:t>Actual: Diseased</a:t>
            </a:r>
            <a:endParaRPr lang="en-US" sz="10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384538" y="5582814"/>
            <a:ext cx="1035781" cy="999224"/>
          </a:xfrm>
          <a:prstGeom prst="rect">
            <a:avLst/>
          </a:prstGeom>
          <a:solidFill>
            <a:srgbClr val="FF7B72">
              <a:alpha val="25000"/>
            </a:srgbClr>
          </a:solidFill>
          <a:ln w="19050">
            <a:solidFill>
              <a:srgbClr val="FF7B72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84538" y="5582814"/>
            <a:ext cx="1035781" cy="99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933" b="1" dirty="0">
                <a:solidFill>
                  <a:srgbClr val="FF7B72"/>
                </a:solidFill>
                <a:latin typeface="Calibri" panose="020F0502020204030204"/>
              </a:rPr>
              <a:t>FP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481247" y="5582814"/>
            <a:ext cx="1035781" cy="999224"/>
          </a:xfrm>
          <a:prstGeom prst="rect">
            <a:avLst/>
          </a:prstGeom>
          <a:solidFill>
            <a:srgbClr val="3FB950">
              <a:alpha val="25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481247" y="5582814"/>
            <a:ext cx="1035781" cy="99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8590"/>
            <a:r>
              <a:rPr lang="en-US" sz="2933" b="1" dirty="0">
                <a:solidFill>
                  <a:srgbClr val="3FB950"/>
                </a:solidFill>
                <a:latin typeface="Calibri" panose="020F0502020204030204"/>
              </a:rPr>
              <a:t>TN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39475" y="6764822"/>
            <a:ext cx="4082193" cy="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pPr defTabSz="1218590"/>
            <a:endParaRPr lang="en-US" sz="239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8086" y="3901195"/>
            <a:ext cx="7067678" cy="1827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8590"/>
            <a:r>
              <a:rPr lang="en-US" sz="1200" b="1" dirty="0">
                <a:solidFill>
                  <a:srgbClr val="3FB950"/>
                </a:solidFill>
                <a:latin typeface="Calibri" panose="020F0502020204030204"/>
              </a:rPr>
              <a:t>TP</a:t>
            </a: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 = True Positive (healthy → healthy)
</a:t>
            </a:r>
            <a:r>
              <a:rPr lang="en-US" sz="1200" b="1" dirty="0">
                <a:solidFill>
                  <a:srgbClr val="3FB950"/>
                </a:solidFill>
                <a:latin typeface="Calibri" panose="020F0502020204030204"/>
              </a:rPr>
              <a:t>TN</a:t>
            </a: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 = True Negative (diseased → diseased)
</a:t>
            </a:r>
            <a:r>
              <a:rPr lang="en-US" sz="1200" b="1" dirty="0">
                <a:solidFill>
                  <a:srgbClr val="FF7B72"/>
                </a:solidFill>
                <a:latin typeface="Calibri" panose="020F0502020204030204"/>
              </a:rPr>
              <a:t>FP</a:t>
            </a: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 = False Positive (diseased → healthy)
</a:t>
            </a:r>
            <a:r>
              <a:rPr lang="en-US" sz="1200" b="1" dirty="0">
                <a:solidFill>
                  <a:srgbClr val="FF7B72"/>
                </a:solidFill>
                <a:latin typeface="Calibri" panose="020F0502020204030204"/>
              </a:rPr>
              <a:t>FN</a:t>
            </a:r>
            <a:r>
              <a:rPr lang="en-US" sz="1200" dirty="0">
                <a:solidFill>
                  <a:srgbClr val="F0F6FF"/>
                </a:solidFill>
                <a:latin typeface="Calibri" panose="020F0502020204030204"/>
              </a:rPr>
              <a:t> = False Negative (healthy → diseased)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11490</Words>
  <Application>Microsoft Office PowerPoint</Application>
  <PresentationFormat>Custom</PresentationFormat>
  <Paragraphs>1920</Paragraphs>
  <Slides>53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Aptos</vt:lpstr>
      <vt:lpstr>Arial</vt:lpstr>
      <vt:lpstr>Calibri</vt:lpstr>
      <vt:lpstr>Consolas</vt:lpstr>
      <vt:lpstr>Courier New</vt:lpstr>
      <vt:lpstr>Segoe UI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nourhan</dc:creator>
  <cp:keywords/>
  <dc:description>generated using python-pptx</dc:description>
  <cp:lastModifiedBy>يوسف عماد صموئيل جريس سعيد</cp:lastModifiedBy>
  <cp:revision>14</cp:revision>
  <dcterms:created xsi:type="dcterms:W3CDTF">2013-01-27T09:14:16Z</dcterms:created>
  <dcterms:modified xsi:type="dcterms:W3CDTF">2026-05-09T03:18:41Z</dcterms:modified>
  <cp:category/>
</cp:coreProperties>
</file>